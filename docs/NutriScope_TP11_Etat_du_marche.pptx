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 L’objectif n’est pas de décrire tout le marché français, mais de comprendre ce que permet l’échantillon disponible pour NutriScope. Les chiffres sont descriptifs et dépendent du périmètre et du nettoyage minimal.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0:30–1:10 — Les snacks sucrés ont une médiane de 38 g/100 g, avec une dispersion importante (24 à 53 g entre les quartiles). Les boissons sont à 6,1 g/100 g. Cela décrit les produits présents dans l’échantillon et les valeurs renseignées, pas tous les produits du marché.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1:10–1:50 — La différence de répartition est forte : 66,1 % des snacks sucrés notés sont E, alors que 50,3 % des fruits et légumes notés sont A. Les produits sans grade exploitable sont exclus. Le message produit est de présenter le grade avec le rayon et d’éviter de laisser entendre qu’il constitue une évaluation exhaustive.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1:50–2:25 — Sur 8 400 produits, 1 726 n’ont pas de rayon exploitable. Il s’agit de 1 700 produits marqués unknown et 26 sans valeur. Les comparaisons par rayon reposent donc sur 6 674 produits. L’enjeu est de rattacher ces fiches aux catégories du Parquet avant d’étendre les analyses.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2:25–3:05 — 79,5 % des fiches à rayon connu contiennent les sept nutriments clés. Mais le taux tombe à 14 % pour les boissons alcoolisées. La complétude mesure la présence, pas l’exactitude ; par exemple, les aliments pour bébés peuvent être complets sans Nutri-Score. Il faut donc afficher les informations manquantes et éviter de confondre complétude et fiabilité.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3:05–3:50 — 465 produits sur 8 400 présentent au moins une incohérence métier selon les règles appliquées. Pour l’énergie, 119 produits sur 6 731 ont un écart supérieur à 150 kcal/100 g. Malgré une corrélation globale de 0,97 entre énergie déclarée et estimation 4/4/9, des cas individuels demandent une vérification. L’estimation n’est pas une vérité absolue, donc les contrôles servent à prioriser une revue, pas à supprimer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3:50–5:00 — La conclusion est une décision de produit : contextualiser le score par rayon, rendre visibles les manquants, et conserver les contrôles de cohérence comme outils de revue. Ces résultats sont issus d’un échantillon de 8 400 produits après nettoyage minimal ; ils ne sont pas représentatifs de tout le marché. Source : contributeurs Open Food Facts, licence ODbL. Vérifier la forme d’attribution exacte exigée par la source du dump dans la documentation du projet.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3657600" cy="274320"/>
          </a:xfrm>
          <a:prstGeom prst="rect">
            <a:avLst/>
          </a:prstGeom>
          <a:noFill/>
        </p:spPr>
        <p:txBody>
          <a:bodyPr wrap="square" lIns="18288" rIns="18288" tIns="18288" bIns="18288">
            <a:spAutoFit/>
          </a:bodyPr>
          <a:lstStyle/>
          <a:p>
            <a:r>
              <a:rPr sz="1200" b="1">
                <a:solidFill>
                  <a:srgbClr val="69D5C5"/>
                </a:solidFill>
                <a:latin typeface="Aptos"/>
              </a:rPr>
              <a:t>NUTRISCOPE  /  TP11</a:t>
            </a:r>
          </a:p>
        </p:txBody>
      </p:sp>
      <p:sp>
        <p:nvSpPr>
          <p:cNvPr id="5" name="TextBox 4"/>
          <p:cNvSpPr txBox="1"/>
          <p:nvPr/>
        </p:nvSpPr>
        <p:spPr>
          <a:xfrm>
            <a:off x="822960" y="1508760"/>
            <a:ext cx="10241280" cy="1280160"/>
          </a:xfrm>
          <a:prstGeom prst="rect">
            <a:avLst/>
          </a:prstGeom>
          <a:noFill/>
        </p:spPr>
        <p:txBody>
          <a:bodyPr wrap="square" lIns="18288" rIns="18288" tIns="18288" bIns="18288">
            <a:spAutoFit/>
          </a:bodyPr>
          <a:lstStyle/>
          <a:p>
            <a:r>
              <a:rPr sz="3800" b="1">
                <a:solidFill>
                  <a:srgbClr val="FFFFFF"/>
                </a:solidFill>
                <a:latin typeface="Aptos"/>
              </a:rPr>
              <a:t>État du marché
alimentaire</a:t>
            </a:r>
          </a:p>
        </p:txBody>
      </p:sp>
      <p:sp>
        <p:nvSpPr>
          <p:cNvPr id="6" name="TextBox 5"/>
          <p:cNvSpPr txBox="1"/>
          <p:nvPr/>
        </p:nvSpPr>
        <p:spPr>
          <a:xfrm>
            <a:off x="868680" y="3154680"/>
            <a:ext cx="9601200" cy="594360"/>
          </a:xfrm>
          <a:prstGeom prst="rect">
            <a:avLst/>
          </a:prstGeom>
          <a:noFill/>
        </p:spPr>
        <p:txBody>
          <a:bodyPr wrap="square" lIns="18288" rIns="18288" tIns="18288" bIns="18288">
            <a:spAutoFit/>
          </a:bodyPr>
          <a:lstStyle/>
          <a:p>
            <a:r>
              <a:rPr sz="1900" b="0">
                <a:solidFill>
                  <a:srgbClr val="D3DEE8"/>
                </a:solidFill>
                <a:latin typeface="Aptos"/>
              </a:rPr>
              <a:t>Ce que l’échantillon révèle — et ce qu’il ne permet pas encore d’affirmer</a:t>
            </a:r>
          </a:p>
        </p:txBody>
      </p:sp>
      <p:sp>
        <p:nvSpPr>
          <p:cNvPr id="7" name="TextBox 6"/>
          <p:cNvSpPr txBox="1"/>
          <p:nvPr/>
        </p:nvSpPr>
        <p:spPr>
          <a:xfrm>
            <a:off x="914400" y="4663440"/>
            <a:ext cx="2560320" cy="502920"/>
          </a:xfrm>
          <a:prstGeom prst="rect">
            <a:avLst/>
          </a:prstGeom>
          <a:noFill/>
        </p:spPr>
        <p:txBody>
          <a:bodyPr wrap="square" lIns="18288" rIns="18288" tIns="18288" bIns="18288">
            <a:spAutoFit/>
          </a:bodyPr>
          <a:lstStyle/>
          <a:p>
            <a:r>
              <a:rPr sz="2700" b="1">
                <a:solidFill>
                  <a:srgbClr val="69D5C5"/>
                </a:solidFill>
                <a:latin typeface="Aptos"/>
              </a:rPr>
              <a:t>8 400</a:t>
            </a:r>
          </a:p>
        </p:txBody>
      </p:sp>
      <p:sp>
        <p:nvSpPr>
          <p:cNvPr id="8" name="TextBox 7"/>
          <p:cNvSpPr txBox="1"/>
          <p:nvPr/>
        </p:nvSpPr>
        <p:spPr>
          <a:xfrm>
            <a:off x="914400" y="5230368"/>
            <a:ext cx="2834640" cy="320040"/>
          </a:xfrm>
          <a:prstGeom prst="rect">
            <a:avLst/>
          </a:prstGeom>
          <a:noFill/>
        </p:spPr>
        <p:txBody>
          <a:bodyPr wrap="square" lIns="18288" rIns="18288" tIns="18288" bIns="18288">
            <a:spAutoFit/>
          </a:bodyPr>
          <a:lstStyle/>
          <a:p>
            <a:r>
              <a:rPr sz="1300" b="0">
                <a:solidFill>
                  <a:srgbClr val="FFFFFF"/>
                </a:solidFill>
                <a:latin typeface="Aptos"/>
              </a:rPr>
              <a:t>produits analysés</a:t>
            </a:r>
          </a:p>
        </p:txBody>
      </p:sp>
      <p:sp>
        <p:nvSpPr>
          <p:cNvPr id="9" name="TextBox 8"/>
          <p:cNvSpPr txBox="1"/>
          <p:nvPr/>
        </p:nvSpPr>
        <p:spPr>
          <a:xfrm>
            <a:off x="4069080" y="4663440"/>
            <a:ext cx="2560320" cy="502920"/>
          </a:xfrm>
          <a:prstGeom prst="rect">
            <a:avLst/>
          </a:prstGeom>
          <a:noFill/>
        </p:spPr>
        <p:txBody>
          <a:bodyPr wrap="square" lIns="18288" rIns="18288" tIns="18288" bIns="18288">
            <a:spAutoFit/>
          </a:bodyPr>
          <a:lstStyle/>
          <a:p>
            <a:r>
              <a:rPr sz="2700" b="1">
                <a:solidFill>
                  <a:srgbClr val="69D5C5"/>
                </a:solidFill>
                <a:latin typeface="Aptos"/>
              </a:rPr>
              <a:t>20,5 %</a:t>
            </a:r>
          </a:p>
        </p:txBody>
      </p:sp>
      <p:sp>
        <p:nvSpPr>
          <p:cNvPr id="10" name="TextBox 9"/>
          <p:cNvSpPr txBox="1"/>
          <p:nvPr/>
        </p:nvSpPr>
        <p:spPr>
          <a:xfrm>
            <a:off x="4069080" y="5230368"/>
            <a:ext cx="2834640" cy="320040"/>
          </a:xfrm>
          <a:prstGeom prst="rect">
            <a:avLst/>
          </a:prstGeom>
          <a:noFill/>
        </p:spPr>
        <p:txBody>
          <a:bodyPr wrap="square" lIns="18288" rIns="18288" tIns="18288" bIns="18288">
            <a:spAutoFit/>
          </a:bodyPr>
          <a:lstStyle/>
          <a:p>
            <a:r>
              <a:rPr sz="1300" b="0">
                <a:solidFill>
                  <a:srgbClr val="FFFFFF"/>
                </a:solidFill>
                <a:latin typeface="Aptos"/>
              </a:rPr>
              <a:t>sans rayon exploitable</a:t>
            </a:r>
          </a:p>
        </p:txBody>
      </p:sp>
      <p:sp>
        <p:nvSpPr>
          <p:cNvPr id="11" name="TextBox 10"/>
          <p:cNvSpPr txBox="1"/>
          <p:nvPr/>
        </p:nvSpPr>
        <p:spPr>
          <a:xfrm>
            <a:off x="7315200" y="4663440"/>
            <a:ext cx="2560320" cy="502920"/>
          </a:xfrm>
          <a:prstGeom prst="rect">
            <a:avLst/>
          </a:prstGeom>
          <a:noFill/>
        </p:spPr>
        <p:txBody>
          <a:bodyPr wrap="square" lIns="18288" rIns="18288" tIns="18288" bIns="18288">
            <a:spAutoFit/>
          </a:bodyPr>
          <a:lstStyle/>
          <a:p>
            <a:r>
              <a:rPr sz="2700" b="1">
                <a:solidFill>
                  <a:srgbClr val="69D5C5"/>
                </a:solidFill>
                <a:latin typeface="Aptos"/>
              </a:rPr>
              <a:t>79,5 %</a:t>
            </a:r>
          </a:p>
        </p:txBody>
      </p:sp>
      <p:sp>
        <p:nvSpPr>
          <p:cNvPr id="12" name="TextBox 11"/>
          <p:cNvSpPr txBox="1"/>
          <p:nvPr/>
        </p:nvSpPr>
        <p:spPr>
          <a:xfrm>
            <a:off x="7315200" y="5230368"/>
            <a:ext cx="2834640" cy="320040"/>
          </a:xfrm>
          <a:prstGeom prst="rect">
            <a:avLst/>
          </a:prstGeom>
          <a:noFill/>
        </p:spPr>
        <p:txBody>
          <a:bodyPr wrap="square" lIns="18288" rIns="18288" tIns="18288" bIns="18288">
            <a:spAutoFit/>
          </a:bodyPr>
          <a:lstStyle/>
          <a:p>
            <a:r>
              <a:rPr sz="1300" b="0">
                <a:solidFill>
                  <a:srgbClr val="FFFFFF"/>
                </a:solidFill>
                <a:latin typeface="Aptos"/>
              </a:rPr>
              <a:t>fiches complètes*</a:t>
            </a:r>
          </a:p>
        </p:txBody>
      </p:sp>
      <p:sp>
        <p:nvSpPr>
          <p:cNvPr id="13" name="TextBox 12"/>
          <p:cNvSpPr txBox="1"/>
          <p:nvPr/>
        </p:nvSpPr>
        <p:spPr>
          <a:xfrm>
            <a:off x="868680" y="5989320"/>
            <a:ext cx="10698480" cy="347472"/>
          </a:xfrm>
          <a:prstGeom prst="rect">
            <a:avLst/>
          </a:prstGeom>
          <a:noFill/>
        </p:spPr>
        <p:txBody>
          <a:bodyPr wrap="square" lIns="18288" rIns="18288" tIns="18288" bIns="18288">
            <a:spAutoFit/>
          </a:bodyPr>
          <a:lstStyle/>
          <a:p>
            <a:r>
              <a:rPr sz="1000" b="0">
                <a:solidFill>
                  <a:srgbClr val="BECAD6"/>
                </a:solidFill>
                <a:latin typeface="Aptos"/>
              </a:rPr>
              <a:t>* Parmi les 6 674 produits dont le rayon est connu, pour les 7 nutriments clés.</a:t>
            </a:r>
          </a:p>
        </p:txBody>
      </p:sp>
      <p:sp>
        <p:nvSpPr>
          <p:cNvPr id="14" name="TextBox 13"/>
          <p:cNvSpPr txBox="1"/>
          <p:nvPr/>
        </p:nvSpPr>
        <p:spPr>
          <a:xfrm>
            <a:off x="868680" y="6473952"/>
            <a:ext cx="9144000" cy="182880"/>
          </a:xfrm>
          <a:prstGeom prst="rect">
            <a:avLst/>
          </a:prstGeom>
          <a:noFill/>
        </p:spPr>
        <p:txBody>
          <a:bodyPr wrap="square" lIns="18288" rIns="18288" tIns="18288" bIns="18288">
            <a:spAutoFit/>
          </a:bodyPr>
          <a:lstStyle/>
          <a:p>
            <a:r>
              <a:rPr sz="800" b="0">
                <a:solidFill>
                  <a:srgbClr val="BECAD6"/>
                </a:solidFill>
                <a:latin typeface="Aptos"/>
              </a:rPr>
              <a:t>Source : Open Food Facts · échantillon après nettoyage minimal · résultats exploratoires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98480" cy="256032"/>
          </a:xfrm>
          <a:prstGeom prst="rect">
            <a:avLst/>
          </a:prstGeom>
          <a:noFill/>
        </p:spPr>
        <p:txBody>
          <a:bodyPr wrap="square" lIns="18288" rIns="18288" tIns="18288" bIns="18288">
            <a:spAutoFit/>
          </a:bodyPr>
          <a:lstStyle/>
          <a:p>
            <a:r>
              <a:rPr sz="1000" b="1">
                <a:solidFill>
                  <a:srgbClr val="00897B"/>
                </a:solidFill>
                <a:latin typeface="Aptos"/>
              </a:rPr>
              <a:t>01 · PROFIL NUTRITIONNEL</a:t>
            </a:r>
          </a:p>
        </p:txBody>
      </p:sp>
      <p:sp>
        <p:nvSpPr>
          <p:cNvPr id="4" name="TextBox 3"/>
          <p:cNvSpPr txBox="1"/>
          <p:nvPr/>
        </p:nvSpPr>
        <p:spPr>
          <a:xfrm>
            <a:off x="594360" y="658368"/>
            <a:ext cx="10972800" cy="566928"/>
          </a:xfrm>
          <a:prstGeom prst="rect">
            <a:avLst/>
          </a:prstGeom>
          <a:noFill/>
        </p:spPr>
        <p:txBody>
          <a:bodyPr wrap="square" lIns="18288" rIns="18288" tIns="18288" bIns="18288">
            <a:spAutoFit/>
          </a:bodyPr>
          <a:lstStyle/>
          <a:p>
            <a:r>
              <a:rPr sz="2700" b="1">
                <a:solidFill>
                  <a:srgbClr val="121E30"/>
                </a:solidFill>
                <a:latin typeface="Aptos"/>
              </a:rPr>
              <a:t>Les snacks sucrés se distinguent nettement</a:t>
            </a:r>
          </a:p>
        </p:txBody>
      </p:sp>
      <p:sp>
        <p:nvSpPr>
          <p:cNvPr id="5" name="TextBox 4"/>
          <p:cNvSpPr txBox="1"/>
          <p:nvPr/>
        </p:nvSpPr>
        <p:spPr>
          <a:xfrm>
            <a:off x="621792" y="1261872"/>
            <a:ext cx="10881360" cy="384048"/>
          </a:xfrm>
          <a:prstGeom prst="rect">
            <a:avLst/>
          </a:prstGeom>
          <a:noFill/>
        </p:spPr>
        <p:txBody>
          <a:bodyPr wrap="square" lIns="18288" rIns="18288" tIns="18288" bIns="18288">
            <a:spAutoFit/>
          </a:bodyPr>
          <a:lstStyle/>
          <a:p>
            <a:r>
              <a:rPr sz="1300" b="0">
                <a:solidFill>
                  <a:srgbClr val="667484"/>
                </a:solidFill>
                <a:latin typeface="Aptos"/>
              </a:rPr>
              <a:t>Médiane de sucres parmi les produits disposant d’une valeur renseignée</a:t>
            </a:r>
          </a:p>
        </p:txBody>
      </p:sp>
      <p:sp>
        <p:nvSpPr>
          <p:cNvPr id="6" name="TextBox 5"/>
          <p:cNvSpPr txBox="1"/>
          <p:nvPr/>
        </p:nvSpPr>
        <p:spPr>
          <a:xfrm>
            <a:off x="621792" y="6510528"/>
            <a:ext cx="9875520" cy="182880"/>
          </a:xfrm>
          <a:prstGeom prst="rect">
            <a:avLst/>
          </a:prstGeom>
          <a:noFill/>
        </p:spPr>
        <p:txBody>
          <a:bodyPr wrap="square" lIns="18288" rIns="18288" tIns="18288" bIns="18288">
            <a:spAutoFit/>
          </a:bodyPr>
          <a:lstStyle/>
          <a:p>
            <a:r>
              <a:rPr sz="800" b="0">
                <a:solidFill>
                  <a:srgbClr val="667484"/>
                </a:solidFill>
                <a:latin typeface="Aptos"/>
              </a:rPr>
              <a:t>NutriScope · TP11 · Échantillon Open Food Facts — nettoyage minimal</a:t>
            </a:r>
          </a:p>
        </p:txBody>
      </p:sp>
      <p:sp>
        <p:nvSpPr>
          <p:cNvPr id="7" name="TextBox 6"/>
          <p:cNvSpPr txBox="1"/>
          <p:nvPr/>
        </p:nvSpPr>
        <p:spPr>
          <a:xfrm>
            <a:off x="11064240" y="6492240"/>
            <a:ext cx="457200" cy="201168"/>
          </a:xfrm>
          <a:prstGeom prst="rect">
            <a:avLst/>
          </a:prstGeom>
          <a:noFill/>
        </p:spPr>
        <p:txBody>
          <a:bodyPr wrap="square" lIns="18288" rIns="18288" tIns="18288" bIns="18288">
            <a:spAutoFit/>
          </a:bodyPr>
          <a:lstStyle/>
          <a:p>
            <a:pPr algn="r"/>
            <a:r>
              <a:rPr sz="900" b="1">
                <a:solidFill>
                  <a:srgbClr val="667484"/>
                </a:solidFill>
                <a:latin typeface="Aptos"/>
              </a:rPr>
              <a:t>02/07</a:t>
            </a:r>
          </a:p>
        </p:txBody>
      </p:sp>
      <p:sp>
        <p:nvSpPr>
          <p:cNvPr id="8" name="Rounded Rectangle 7"/>
          <p:cNvSpPr/>
          <p:nvPr/>
        </p:nvSpPr>
        <p:spPr>
          <a:xfrm>
            <a:off x="685800" y="1874519"/>
            <a:ext cx="2926080" cy="196596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020824"/>
            <a:ext cx="2560320" cy="530352"/>
          </a:xfrm>
          <a:prstGeom prst="rect">
            <a:avLst/>
          </a:prstGeom>
          <a:noFill/>
        </p:spPr>
        <p:txBody>
          <a:bodyPr wrap="square" lIns="18288" rIns="18288" tIns="18288" bIns="18288">
            <a:spAutoFit/>
          </a:bodyPr>
          <a:lstStyle/>
          <a:p>
            <a:r>
              <a:rPr sz="2900" b="1">
                <a:solidFill>
                  <a:srgbClr val="E88937"/>
                </a:solidFill>
                <a:latin typeface="Aptos"/>
              </a:rPr>
              <a:t>38 g/100 g</a:t>
            </a:r>
          </a:p>
        </p:txBody>
      </p:sp>
      <p:sp>
        <p:nvSpPr>
          <p:cNvPr id="10" name="TextBox 9"/>
          <p:cNvSpPr txBox="1"/>
          <p:nvPr/>
        </p:nvSpPr>
        <p:spPr>
          <a:xfrm>
            <a:off x="886968" y="2624327"/>
            <a:ext cx="2560320" cy="475488"/>
          </a:xfrm>
          <a:prstGeom prst="rect">
            <a:avLst/>
          </a:prstGeom>
          <a:noFill/>
        </p:spPr>
        <p:txBody>
          <a:bodyPr wrap="square" lIns="18288" rIns="18288" tIns="18288" bIns="18288">
            <a:spAutoFit/>
          </a:bodyPr>
          <a:lstStyle/>
          <a:p>
            <a:r>
              <a:rPr sz="1300" b="1">
                <a:solidFill>
                  <a:srgbClr val="232F3E"/>
                </a:solidFill>
                <a:latin typeface="Aptos"/>
              </a:rPr>
              <a:t>Snacks sucrés</a:t>
            </a:r>
          </a:p>
        </p:txBody>
      </p:sp>
      <p:sp>
        <p:nvSpPr>
          <p:cNvPr id="11" name="TextBox 10"/>
          <p:cNvSpPr txBox="1"/>
          <p:nvPr/>
        </p:nvSpPr>
        <p:spPr>
          <a:xfrm>
            <a:off x="886968" y="3108960"/>
            <a:ext cx="2560320" cy="640080"/>
          </a:xfrm>
          <a:prstGeom prst="rect">
            <a:avLst/>
          </a:prstGeom>
          <a:noFill/>
        </p:spPr>
        <p:txBody>
          <a:bodyPr wrap="square" lIns="18288" rIns="18288" tIns="18288" bIns="18288">
            <a:spAutoFit/>
          </a:bodyPr>
          <a:lstStyle/>
          <a:p>
            <a:r>
              <a:rPr sz="1000" b="0">
                <a:solidFill>
                  <a:srgbClr val="667484"/>
                </a:solidFill>
                <a:latin typeface="Aptos"/>
              </a:rPr>
              <a:t>Q1 : 24 g · Q3 : 53 g
n = 1 185</a:t>
            </a:r>
          </a:p>
        </p:txBody>
      </p:sp>
      <p:sp>
        <p:nvSpPr>
          <p:cNvPr id="12" name="Rounded Rectangle 11"/>
          <p:cNvSpPr/>
          <p:nvPr/>
        </p:nvSpPr>
        <p:spPr>
          <a:xfrm>
            <a:off x="685800" y="4160520"/>
            <a:ext cx="2926080" cy="141732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4306824"/>
            <a:ext cx="2560320" cy="530352"/>
          </a:xfrm>
          <a:prstGeom prst="rect">
            <a:avLst/>
          </a:prstGeom>
          <a:noFill/>
        </p:spPr>
        <p:txBody>
          <a:bodyPr wrap="square" lIns="18288" rIns="18288" tIns="18288" bIns="18288">
            <a:spAutoFit/>
          </a:bodyPr>
          <a:lstStyle/>
          <a:p>
            <a:r>
              <a:rPr sz="2900" b="1">
                <a:solidFill>
                  <a:srgbClr val="00897B"/>
                </a:solidFill>
                <a:latin typeface="Aptos"/>
              </a:rPr>
              <a:t>6,1 g/100 g</a:t>
            </a:r>
          </a:p>
        </p:txBody>
      </p:sp>
      <p:sp>
        <p:nvSpPr>
          <p:cNvPr id="14" name="TextBox 13"/>
          <p:cNvSpPr txBox="1"/>
          <p:nvPr/>
        </p:nvSpPr>
        <p:spPr>
          <a:xfrm>
            <a:off x="886968" y="4910328"/>
            <a:ext cx="2560320" cy="475488"/>
          </a:xfrm>
          <a:prstGeom prst="rect">
            <a:avLst/>
          </a:prstGeom>
          <a:noFill/>
        </p:spPr>
        <p:txBody>
          <a:bodyPr wrap="square" lIns="18288" rIns="18288" tIns="18288" bIns="18288">
            <a:spAutoFit/>
          </a:bodyPr>
          <a:lstStyle/>
          <a:p>
            <a:r>
              <a:rPr sz="1300" b="1">
                <a:solidFill>
                  <a:srgbClr val="232F3E"/>
                </a:solidFill>
                <a:latin typeface="Aptos"/>
              </a:rPr>
              <a:t>Boissons</a:t>
            </a:r>
          </a:p>
        </p:txBody>
      </p:sp>
      <p:sp>
        <p:nvSpPr>
          <p:cNvPr id="15" name="TextBox 14"/>
          <p:cNvSpPr txBox="1"/>
          <p:nvPr/>
        </p:nvSpPr>
        <p:spPr>
          <a:xfrm>
            <a:off x="886968" y="5394960"/>
            <a:ext cx="2560320" cy="91440"/>
          </a:xfrm>
          <a:prstGeom prst="rect">
            <a:avLst/>
          </a:prstGeom>
          <a:noFill/>
        </p:spPr>
        <p:txBody>
          <a:bodyPr wrap="square" lIns="18288" rIns="18288" tIns="18288" bIns="18288">
            <a:spAutoFit/>
          </a:bodyPr>
          <a:lstStyle/>
          <a:p>
            <a:r>
              <a:rPr sz="1000" b="0">
                <a:solidFill>
                  <a:srgbClr val="667484"/>
                </a:solidFill>
                <a:latin typeface="Aptos"/>
              </a:rPr>
              <a:t>n = 452</a:t>
            </a:r>
          </a:p>
        </p:txBody>
      </p:sp>
      <p:sp>
        <p:nvSpPr>
          <p:cNvPr id="16" name="TextBox 15"/>
          <p:cNvSpPr txBox="1"/>
          <p:nvPr/>
        </p:nvSpPr>
        <p:spPr>
          <a:xfrm>
            <a:off x="4160520" y="1965960"/>
            <a:ext cx="6949440" cy="365760"/>
          </a:xfrm>
          <a:prstGeom prst="rect">
            <a:avLst/>
          </a:prstGeom>
          <a:noFill/>
        </p:spPr>
        <p:txBody>
          <a:bodyPr wrap="square" lIns="18288" rIns="18288" tIns="18288" bIns="18288">
            <a:spAutoFit/>
          </a:bodyPr>
          <a:lstStyle/>
          <a:p>
            <a:r>
              <a:rPr sz="1600" b="1">
                <a:solidFill>
                  <a:srgbClr val="121E30"/>
                </a:solidFill>
                <a:latin typeface="Aptos"/>
              </a:rPr>
              <a:t>Médiane des sucres (g pour 100 g)</a:t>
            </a:r>
          </a:p>
        </p:txBody>
      </p:sp>
      <p:sp>
        <p:nvSpPr>
          <p:cNvPr id="17" name="TextBox 16"/>
          <p:cNvSpPr txBox="1"/>
          <p:nvPr/>
        </p:nvSpPr>
        <p:spPr>
          <a:xfrm>
            <a:off x="4160520" y="2788920"/>
            <a:ext cx="2011680" cy="274320"/>
          </a:xfrm>
          <a:prstGeom prst="rect">
            <a:avLst/>
          </a:prstGeom>
          <a:noFill/>
        </p:spPr>
        <p:txBody>
          <a:bodyPr wrap="square" lIns="18288" rIns="18288" tIns="18288" bIns="18288">
            <a:spAutoFit/>
          </a:bodyPr>
          <a:lstStyle/>
          <a:p>
            <a:r>
              <a:rPr sz="1300" b="1">
                <a:solidFill>
                  <a:srgbClr val="232F3E"/>
                </a:solidFill>
                <a:latin typeface="Aptos"/>
              </a:rPr>
              <a:t>Snacks sucrés</a:t>
            </a:r>
          </a:p>
        </p:txBody>
      </p:sp>
      <p:sp>
        <p:nvSpPr>
          <p:cNvPr id="18" name="Rounded Rectangle 17"/>
          <p:cNvSpPr/>
          <p:nvPr/>
        </p:nvSpPr>
        <p:spPr>
          <a:xfrm>
            <a:off x="4160520" y="3136392"/>
            <a:ext cx="5669280" cy="384048"/>
          </a:xfrm>
          <a:prstGeom prst="roundRect">
            <a:avLst/>
          </a:prstGeom>
          <a:solidFill>
            <a:srgbClr val="E88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12680" y="3081528"/>
            <a:ext cx="914400" cy="411480"/>
          </a:xfrm>
          <a:prstGeom prst="rect">
            <a:avLst/>
          </a:prstGeom>
          <a:noFill/>
        </p:spPr>
        <p:txBody>
          <a:bodyPr wrap="square" lIns="18288" rIns="18288" tIns="18288" bIns="18288">
            <a:spAutoFit/>
          </a:bodyPr>
          <a:lstStyle/>
          <a:p>
            <a:r>
              <a:rPr sz="1700" b="1">
                <a:solidFill>
                  <a:srgbClr val="E88937"/>
                </a:solidFill>
                <a:latin typeface="Aptos"/>
              </a:rPr>
              <a:t>38</a:t>
            </a:r>
          </a:p>
        </p:txBody>
      </p:sp>
      <p:sp>
        <p:nvSpPr>
          <p:cNvPr id="20" name="TextBox 19"/>
          <p:cNvSpPr txBox="1"/>
          <p:nvPr/>
        </p:nvSpPr>
        <p:spPr>
          <a:xfrm>
            <a:off x="4160520" y="3886200"/>
            <a:ext cx="2011680" cy="274320"/>
          </a:xfrm>
          <a:prstGeom prst="rect">
            <a:avLst/>
          </a:prstGeom>
          <a:noFill/>
        </p:spPr>
        <p:txBody>
          <a:bodyPr wrap="square" lIns="18288" rIns="18288" tIns="18288" bIns="18288">
            <a:spAutoFit/>
          </a:bodyPr>
          <a:lstStyle/>
          <a:p>
            <a:r>
              <a:rPr sz="1300" b="1">
                <a:solidFill>
                  <a:srgbClr val="232F3E"/>
                </a:solidFill>
                <a:latin typeface="Aptos"/>
              </a:rPr>
              <a:t>Boissons</a:t>
            </a:r>
          </a:p>
        </p:txBody>
      </p:sp>
      <p:sp>
        <p:nvSpPr>
          <p:cNvPr id="21" name="Rounded Rectangle 20"/>
          <p:cNvSpPr/>
          <p:nvPr/>
        </p:nvSpPr>
        <p:spPr>
          <a:xfrm>
            <a:off x="4160520" y="4233672"/>
            <a:ext cx="914400" cy="38404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30368" y="4169663"/>
            <a:ext cx="914400" cy="411480"/>
          </a:xfrm>
          <a:prstGeom prst="rect">
            <a:avLst/>
          </a:prstGeom>
          <a:noFill/>
        </p:spPr>
        <p:txBody>
          <a:bodyPr wrap="square" lIns="18288" rIns="18288" tIns="18288" bIns="18288">
            <a:spAutoFit/>
          </a:bodyPr>
          <a:lstStyle/>
          <a:p>
            <a:r>
              <a:rPr sz="1700" b="1">
                <a:solidFill>
                  <a:srgbClr val="00897B"/>
                </a:solidFill>
                <a:latin typeface="Aptos"/>
              </a:rPr>
              <a:t>6,1</a:t>
            </a:r>
          </a:p>
        </p:txBody>
      </p:sp>
      <p:sp>
        <p:nvSpPr>
          <p:cNvPr id="23" name="TextBox 22"/>
          <p:cNvSpPr txBox="1"/>
          <p:nvPr/>
        </p:nvSpPr>
        <p:spPr>
          <a:xfrm>
            <a:off x="4160520" y="5074920"/>
            <a:ext cx="6766560" cy="548640"/>
          </a:xfrm>
          <a:prstGeom prst="rect">
            <a:avLst/>
          </a:prstGeom>
          <a:noFill/>
        </p:spPr>
        <p:txBody>
          <a:bodyPr wrap="square" lIns="18288" rIns="18288" tIns="18288" bIns="18288">
            <a:spAutoFit/>
          </a:bodyPr>
          <a:lstStyle/>
          <a:p>
            <a:r>
              <a:rPr sz="1800" b="1">
                <a:solidFill>
                  <a:srgbClr val="121E30"/>
                </a:solidFill>
                <a:latin typeface="Aptos"/>
              </a:rPr>
              <a:t>La médiane des snacks sucrés est environ 6 fois celle des boissons.</a:t>
            </a:r>
          </a:p>
        </p:txBody>
      </p:sp>
      <p:sp>
        <p:nvSpPr>
          <p:cNvPr id="24" name="TextBox 23"/>
          <p:cNvSpPr txBox="1"/>
          <p:nvPr/>
        </p:nvSpPr>
        <p:spPr>
          <a:xfrm>
            <a:off x="4160520" y="5715000"/>
            <a:ext cx="6766560" cy="438912"/>
          </a:xfrm>
          <a:prstGeom prst="rect">
            <a:avLst/>
          </a:prstGeom>
          <a:noFill/>
        </p:spPr>
        <p:txBody>
          <a:bodyPr wrap="square" lIns="18288" rIns="18288" tIns="18288" bIns="18288">
            <a:spAutoFit/>
          </a:bodyPr>
          <a:lstStyle/>
          <a:p>
            <a:r>
              <a:rPr sz="1300" b="0">
                <a:solidFill>
                  <a:srgbClr val="667484"/>
                </a:solidFill>
                <a:latin typeface="Aptos"/>
              </a:rPr>
              <a:t>Implication : comparer les produits dans leur rayon, plutôt que d’afficher un chiffre isolé.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98480" cy="256032"/>
          </a:xfrm>
          <a:prstGeom prst="rect">
            <a:avLst/>
          </a:prstGeom>
          <a:noFill/>
        </p:spPr>
        <p:txBody>
          <a:bodyPr wrap="square" lIns="18288" rIns="18288" tIns="18288" bIns="18288">
            <a:spAutoFit/>
          </a:bodyPr>
          <a:lstStyle/>
          <a:p>
            <a:r>
              <a:rPr sz="1000" b="1">
                <a:solidFill>
                  <a:srgbClr val="00897B"/>
                </a:solidFill>
                <a:latin typeface="Aptos"/>
              </a:rPr>
              <a:t>02 · NUTRI-SCORE</a:t>
            </a:r>
          </a:p>
        </p:txBody>
      </p:sp>
      <p:sp>
        <p:nvSpPr>
          <p:cNvPr id="4" name="TextBox 3"/>
          <p:cNvSpPr txBox="1"/>
          <p:nvPr/>
        </p:nvSpPr>
        <p:spPr>
          <a:xfrm>
            <a:off x="594360" y="658368"/>
            <a:ext cx="10972800" cy="566928"/>
          </a:xfrm>
          <a:prstGeom prst="rect">
            <a:avLst/>
          </a:prstGeom>
          <a:noFill/>
        </p:spPr>
        <p:txBody>
          <a:bodyPr wrap="square" lIns="18288" rIns="18288" tIns="18288" bIns="18288">
            <a:spAutoFit/>
          </a:bodyPr>
          <a:lstStyle/>
          <a:p>
            <a:r>
              <a:rPr sz="2700" b="1">
                <a:solidFill>
                  <a:srgbClr val="121E30"/>
                </a:solidFill>
                <a:latin typeface="Aptos"/>
              </a:rPr>
              <a:t>Le grade dépend fortement du rayon</a:t>
            </a:r>
          </a:p>
        </p:txBody>
      </p:sp>
      <p:sp>
        <p:nvSpPr>
          <p:cNvPr id="5" name="TextBox 4"/>
          <p:cNvSpPr txBox="1"/>
          <p:nvPr/>
        </p:nvSpPr>
        <p:spPr>
          <a:xfrm>
            <a:off x="621792" y="1261872"/>
            <a:ext cx="10881360" cy="384048"/>
          </a:xfrm>
          <a:prstGeom prst="rect">
            <a:avLst/>
          </a:prstGeom>
          <a:noFill/>
        </p:spPr>
        <p:txBody>
          <a:bodyPr wrap="square" lIns="18288" rIns="18288" tIns="18288" bIns="18288">
            <a:spAutoFit/>
          </a:bodyPr>
          <a:lstStyle/>
          <a:p>
            <a:r>
              <a:rPr sz="1300" b="0">
                <a:solidFill>
                  <a:srgbClr val="667484"/>
                </a:solidFill>
                <a:latin typeface="Aptos"/>
              </a:rPr>
              <a:t>Part des produits notés dans les deux rayons contrastés (grades A à E)</a:t>
            </a:r>
          </a:p>
        </p:txBody>
      </p:sp>
      <p:sp>
        <p:nvSpPr>
          <p:cNvPr id="6" name="TextBox 5"/>
          <p:cNvSpPr txBox="1"/>
          <p:nvPr/>
        </p:nvSpPr>
        <p:spPr>
          <a:xfrm>
            <a:off x="621792" y="6510528"/>
            <a:ext cx="9875520" cy="182880"/>
          </a:xfrm>
          <a:prstGeom prst="rect">
            <a:avLst/>
          </a:prstGeom>
          <a:noFill/>
        </p:spPr>
        <p:txBody>
          <a:bodyPr wrap="square" lIns="18288" rIns="18288" tIns="18288" bIns="18288">
            <a:spAutoFit/>
          </a:bodyPr>
          <a:lstStyle/>
          <a:p>
            <a:r>
              <a:rPr sz="800" b="0">
                <a:solidFill>
                  <a:srgbClr val="667484"/>
                </a:solidFill>
                <a:latin typeface="Aptos"/>
              </a:rPr>
              <a:t>NutriScope · TP11 · Échantillon Open Food Facts — nettoyage minimal</a:t>
            </a:r>
          </a:p>
        </p:txBody>
      </p:sp>
      <p:sp>
        <p:nvSpPr>
          <p:cNvPr id="7" name="TextBox 6"/>
          <p:cNvSpPr txBox="1"/>
          <p:nvPr/>
        </p:nvSpPr>
        <p:spPr>
          <a:xfrm>
            <a:off x="11064240" y="6492240"/>
            <a:ext cx="457200" cy="201168"/>
          </a:xfrm>
          <a:prstGeom prst="rect">
            <a:avLst/>
          </a:prstGeom>
          <a:noFill/>
        </p:spPr>
        <p:txBody>
          <a:bodyPr wrap="square" lIns="18288" rIns="18288" tIns="18288" bIns="18288">
            <a:spAutoFit/>
          </a:bodyPr>
          <a:lstStyle/>
          <a:p>
            <a:pPr algn="r"/>
            <a:r>
              <a:rPr sz="900" b="1">
                <a:solidFill>
                  <a:srgbClr val="667484"/>
                </a:solidFill>
                <a:latin typeface="Aptos"/>
              </a:rPr>
              <a:t>03/07</a:t>
            </a:r>
          </a:p>
        </p:txBody>
      </p:sp>
      <p:sp>
        <p:nvSpPr>
          <p:cNvPr id="8" name="Rounded Rectangle 7"/>
          <p:cNvSpPr/>
          <p:nvPr/>
        </p:nvSpPr>
        <p:spPr>
          <a:xfrm>
            <a:off x="822960" y="1965960"/>
            <a:ext cx="4389120" cy="201168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112264"/>
            <a:ext cx="4023359" cy="530352"/>
          </a:xfrm>
          <a:prstGeom prst="rect">
            <a:avLst/>
          </a:prstGeom>
          <a:noFill/>
        </p:spPr>
        <p:txBody>
          <a:bodyPr wrap="square" lIns="18288" rIns="18288" tIns="18288" bIns="18288">
            <a:spAutoFit/>
          </a:bodyPr>
          <a:lstStyle/>
          <a:p>
            <a:r>
              <a:rPr sz="2900" b="1">
                <a:solidFill>
                  <a:srgbClr val="C64848"/>
                </a:solidFill>
                <a:latin typeface="Aptos"/>
              </a:rPr>
              <a:t>66,1 %</a:t>
            </a:r>
          </a:p>
        </p:txBody>
      </p:sp>
      <p:sp>
        <p:nvSpPr>
          <p:cNvPr id="10" name="TextBox 9"/>
          <p:cNvSpPr txBox="1"/>
          <p:nvPr/>
        </p:nvSpPr>
        <p:spPr>
          <a:xfrm>
            <a:off x="1024128" y="2715768"/>
            <a:ext cx="4023359" cy="475488"/>
          </a:xfrm>
          <a:prstGeom prst="rect">
            <a:avLst/>
          </a:prstGeom>
          <a:noFill/>
        </p:spPr>
        <p:txBody>
          <a:bodyPr wrap="square" lIns="18288" rIns="18288" tIns="18288" bIns="18288">
            <a:spAutoFit/>
          </a:bodyPr>
          <a:lstStyle/>
          <a:p>
            <a:r>
              <a:rPr sz="1300" b="1">
                <a:solidFill>
                  <a:srgbClr val="232F3E"/>
                </a:solidFill>
                <a:latin typeface="Aptos"/>
              </a:rPr>
              <a:t>Snacks sucrés classés E</a:t>
            </a:r>
          </a:p>
        </p:txBody>
      </p:sp>
      <p:sp>
        <p:nvSpPr>
          <p:cNvPr id="11" name="TextBox 10"/>
          <p:cNvSpPr txBox="1"/>
          <p:nvPr/>
        </p:nvSpPr>
        <p:spPr>
          <a:xfrm>
            <a:off x="1024128" y="3200400"/>
            <a:ext cx="4023359" cy="685800"/>
          </a:xfrm>
          <a:prstGeom prst="rect">
            <a:avLst/>
          </a:prstGeom>
          <a:noFill/>
        </p:spPr>
        <p:txBody>
          <a:bodyPr wrap="square" lIns="18288" rIns="18288" tIns="18288" bIns="18288">
            <a:spAutoFit/>
          </a:bodyPr>
          <a:lstStyle/>
          <a:p>
            <a:r>
              <a:rPr sz="1000" b="0">
                <a:solidFill>
                  <a:srgbClr val="667484"/>
                </a:solidFill>
                <a:latin typeface="Aptos"/>
              </a:rPr>
              <a:t>n = 1 098 produits notés</a:t>
            </a:r>
          </a:p>
        </p:txBody>
      </p:sp>
      <p:sp>
        <p:nvSpPr>
          <p:cNvPr id="12" name="Rounded Rectangle 11"/>
          <p:cNvSpPr/>
          <p:nvPr/>
        </p:nvSpPr>
        <p:spPr>
          <a:xfrm>
            <a:off x="6903720" y="1965960"/>
            <a:ext cx="4389120" cy="201168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04888" y="2112264"/>
            <a:ext cx="4023359" cy="530352"/>
          </a:xfrm>
          <a:prstGeom prst="rect">
            <a:avLst/>
          </a:prstGeom>
          <a:noFill/>
        </p:spPr>
        <p:txBody>
          <a:bodyPr wrap="square" lIns="18288" rIns="18288" tIns="18288" bIns="18288">
            <a:spAutoFit/>
          </a:bodyPr>
          <a:lstStyle/>
          <a:p>
            <a:r>
              <a:rPr sz="2900" b="1">
                <a:solidFill>
                  <a:srgbClr val="00897B"/>
                </a:solidFill>
                <a:latin typeface="Aptos"/>
              </a:rPr>
              <a:t>50,3 %</a:t>
            </a:r>
          </a:p>
        </p:txBody>
      </p:sp>
      <p:sp>
        <p:nvSpPr>
          <p:cNvPr id="14" name="TextBox 13"/>
          <p:cNvSpPr txBox="1"/>
          <p:nvPr/>
        </p:nvSpPr>
        <p:spPr>
          <a:xfrm>
            <a:off x="7104888" y="2715768"/>
            <a:ext cx="4023359" cy="475488"/>
          </a:xfrm>
          <a:prstGeom prst="rect">
            <a:avLst/>
          </a:prstGeom>
          <a:noFill/>
        </p:spPr>
        <p:txBody>
          <a:bodyPr wrap="square" lIns="18288" rIns="18288" tIns="18288" bIns="18288">
            <a:spAutoFit/>
          </a:bodyPr>
          <a:lstStyle/>
          <a:p>
            <a:r>
              <a:rPr sz="1300" b="1">
                <a:solidFill>
                  <a:srgbClr val="232F3E"/>
                </a:solidFill>
                <a:latin typeface="Aptos"/>
              </a:rPr>
              <a:t>Fruits et légumes classés A</a:t>
            </a:r>
          </a:p>
        </p:txBody>
      </p:sp>
      <p:sp>
        <p:nvSpPr>
          <p:cNvPr id="15" name="TextBox 14"/>
          <p:cNvSpPr txBox="1"/>
          <p:nvPr/>
        </p:nvSpPr>
        <p:spPr>
          <a:xfrm>
            <a:off x="7104888" y="3200400"/>
            <a:ext cx="4023359" cy="685800"/>
          </a:xfrm>
          <a:prstGeom prst="rect">
            <a:avLst/>
          </a:prstGeom>
          <a:noFill/>
        </p:spPr>
        <p:txBody>
          <a:bodyPr wrap="square" lIns="18288" rIns="18288" tIns="18288" bIns="18288">
            <a:spAutoFit/>
          </a:bodyPr>
          <a:lstStyle/>
          <a:p>
            <a:r>
              <a:rPr sz="1000" b="0">
                <a:solidFill>
                  <a:srgbClr val="667484"/>
                </a:solidFill>
                <a:latin typeface="Aptos"/>
              </a:rPr>
              <a:t>n = 344 produits notés</a:t>
            </a:r>
          </a:p>
        </p:txBody>
      </p:sp>
      <p:sp>
        <p:nvSpPr>
          <p:cNvPr id="16" name="Rounded Rectangle 15"/>
          <p:cNvSpPr/>
          <p:nvPr/>
        </p:nvSpPr>
        <p:spPr>
          <a:xfrm>
            <a:off x="1051560" y="4389120"/>
            <a:ext cx="3886200" cy="411480"/>
          </a:xfrm>
          <a:prstGeom prst="round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51560" y="4389120"/>
            <a:ext cx="2568778" cy="411480"/>
          </a:xfrm>
          <a:prstGeom prst="roundRect">
            <a:avLst/>
          </a:prstGeom>
          <a:solidFill>
            <a:srgbClr val="C6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0" y="4389120"/>
            <a:ext cx="3886200" cy="411480"/>
          </a:xfrm>
          <a:prstGeom prst="round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32320" y="4389120"/>
            <a:ext cx="1954758" cy="4114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166360"/>
            <a:ext cx="10332720" cy="457200"/>
          </a:xfrm>
          <a:prstGeom prst="rect">
            <a:avLst/>
          </a:prstGeom>
          <a:noFill/>
        </p:spPr>
        <p:txBody>
          <a:bodyPr wrap="square" lIns="18288" rIns="18288" tIns="18288" bIns="18288">
            <a:spAutoFit/>
          </a:bodyPr>
          <a:lstStyle/>
          <a:p>
            <a:r>
              <a:rPr sz="1600" b="1">
                <a:solidFill>
                  <a:srgbClr val="121E30"/>
                </a:solidFill>
                <a:latin typeface="Aptos"/>
              </a:rPr>
              <a:t>Le Nutri-Score doit être lu avec le contexte du rayon — et ne résume pas tous les aspects nutritionnels.</a:t>
            </a:r>
          </a:p>
        </p:txBody>
      </p:sp>
      <p:sp>
        <p:nvSpPr>
          <p:cNvPr id="21" name="TextBox 20"/>
          <p:cNvSpPr txBox="1"/>
          <p:nvPr/>
        </p:nvSpPr>
        <p:spPr>
          <a:xfrm>
            <a:off x="914400" y="5715000"/>
            <a:ext cx="10332720" cy="384048"/>
          </a:xfrm>
          <a:prstGeom prst="rect">
            <a:avLst/>
          </a:prstGeom>
          <a:noFill/>
        </p:spPr>
        <p:txBody>
          <a:bodyPr wrap="square" lIns="18288" rIns="18288" tIns="18288" bIns="18288">
            <a:spAutoFit/>
          </a:bodyPr>
          <a:lstStyle/>
          <a:p>
            <a:r>
              <a:rPr sz="1200" b="0">
                <a:solidFill>
                  <a:srgbClr val="667484"/>
                </a:solidFill>
                <a:latin typeface="Aptos"/>
              </a:rPr>
              <a:t>Base : 5 149 produits avec grade exploitable, parmi les produits de rayon connu.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98480" cy="256032"/>
          </a:xfrm>
          <a:prstGeom prst="rect">
            <a:avLst/>
          </a:prstGeom>
          <a:noFill/>
        </p:spPr>
        <p:txBody>
          <a:bodyPr wrap="square" lIns="18288" rIns="18288" tIns="18288" bIns="18288">
            <a:spAutoFit/>
          </a:bodyPr>
          <a:lstStyle/>
          <a:p>
            <a:r>
              <a:rPr sz="1000" b="1">
                <a:solidFill>
                  <a:srgbClr val="00897B"/>
                </a:solidFill>
                <a:latin typeface="Aptos"/>
              </a:rPr>
              <a:t>03 · COUVERTURE DES DONNÉES</a:t>
            </a:r>
          </a:p>
        </p:txBody>
      </p:sp>
      <p:sp>
        <p:nvSpPr>
          <p:cNvPr id="4" name="TextBox 3"/>
          <p:cNvSpPr txBox="1"/>
          <p:nvPr/>
        </p:nvSpPr>
        <p:spPr>
          <a:xfrm>
            <a:off x="594360" y="658368"/>
            <a:ext cx="10972800" cy="566928"/>
          </a:xfrm>
          <a:prstGeom prst="rect">
            <a:avLst/>
          </a:prstGeom>
          <a:noFill/>
        </p:spPr>
        <p:txBody>
          <a:bodyPr wrap="square" lIns="18288" rIns="18288" tIns="18288" bIns="18288">
            <a:spAutoFit/>
          </a:bodyPr>
          <a:lstStyle/>
          <a:p>
            <a:r>
              <a:rPr sz="2700" b="1">
                <a:solidFill>
                  <a:srgbClr val="121E30"/>
                </a:solidFill>
                <a:latin typeface="Aptos"/>
              </a:rPr>
              <a:t>Un produit sur cinq n’a pas de rayon exploitable</a:t>
            </a:r>
          </a:p>
        </p:txBody>
      </p:sp>
      <p:sp>
        <p:nvSpPr>
          <p:cNvPr id="5" name="TextBox 4"/>
          <p:cNvSpPr txBox="1"/>
          <p:nvPr/>
        </p:nvSpPr>
        <p:spPr>
          <a:xfrm>
            <a:off x="621792" y="1261872"/>
            <a:ext cx="10881360" cy="384048"/>
          </a:xfrm>
          <a:prstGeom prst="rect">
            <a:avLst/>
          </a:prstGeom>
          <a:noFill/>
        </p:spPr>
        <p:txBody>
          <a:bodyPr wrap="square" lIns="18288" rIns="18288" tIns="18288" bIns="18288">
            <a:spAutoFit/>
          </a:bodyPr>
          <a:lstStyle/>
          <a:p>
            <a:r>
              <a:rPr sz="1300" b="0">
                <a:solidFill>
                  <a:srgbClr val="667484"/>
                </a:solidFill>
                <a:latin typeface="Aptos"/>
              </a:rPr>
              <a:t>Les comparaisons par rayon ne couvrent donc pas tout le catalogue.</a:t>
            </a:r>
          </a:p>
        </p:txBody>
      </p:sp>
      <p:sp>
        <p:nvSpPr>
          <p:cNvPr id="6" name="TextBox 5"/>
          <p:cNvSpPr txBox="1"/>
          <p:nvPr/>
        </p:nvSpPr>
        <p:spPr>
          <a:xfrm>
            <a:off x="621792" y="6510528"/>
            <a:ext cx="9875520" cy="182880"/>
          </a:xfrm>
          <a:prstGeom prst="rect">
            <a:avLst/>
          </a:prstGeom>
          <a:noFill/>
        </p:spPr>
        <p:txBody>
          <a:bodyPr wrap="square" lIns="18288" rIns="18288" tIns="18288" bIns="18288">
            <a:spAutoFit/>
          </a:bodyPr>
          <a:lstStyle/>
          <a:p>
            <a:r>
              <a:rPr sz="800" b="0">
                <a:solidFill>
                  <a:srgbClr val="667484"/>
                </a:solidFill>
                <a:latin typeface="Aptos"/>
              </a:rPr>
              <a:t>NutriScope · TP11 · Échantillon Open Food Facts — nettoyage minimal</a:t>
            </a:r>
          </a:p>
        </p:txBody>
      </p:sp>
      <p:sp>
        <p:nvSpPr>
          <p:cNvPr id="7" name="TextBox 6"/>
          <p:cNvSpPr txBox="1"/>
          <p:nvPr/>
        </p:nvSpPr>
        <p:spPr>
          <a:xfrm>
            <a:off x="11064240" y="6492240"/>
            <a:ext cx="457200" cy="201168"/>
          </a:xfrm>
          <a:prstGeom prst="rect">
            <a:avLst/>
          </a:prstGeom>
          <a:noFill/>
        </p:spPr>
        <p:txBody>
          <a:bodyPr wrap="square" lIns="18288" rIns="18288" tIns="18288" bIns="18288">
            <a:spAutoFit/>
          </a:bodyPr>
          <a:lstStyle/>
          <a:p>
            <a:pPr algn="r"/>
            <a:r>
              <a:rPr sz="900" b="1">
                <a:solidFill>
                  <a:srgbClr val="667484"/>
                </a:solidFill>
                <a:latin typeface="Aptos"/>
              </a:rPr>
              <a:t>04/07</a:t>
            </a:r>
          </a:p>
        </p:txBody>
      </p:sp>
      <p:sp>
        <p:nvSpPr>
          <p:cNvPr id="8" name="Rounded Rectangle 7"/>
          <p:cNvSpPr/>
          <p:nvPr/>
        </p:nvSpPr>
        <p:spPr>
          <a:xfrm>
            <a:off x="731520" y="1920240"/>
            <a:ext cx="3154680" cy="182880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66544"/>
            <a:ext cx="2788920" cy="530352"/>
          </a:xfrm>
          <a:prstGeom prst="rect">
            <a:avLst/>
          </a:prstGeom>
          <a:noFill/>
        </p:spPr>
        <p:txBody>
          <a:bodyPr wrap="square" lIns="18288" rIns="18288" tIns="18288" bIns="18288">
            <a:spAutoFit/>
          </a:bodyPr>
          <a:lstStyle/>
          <a:p>
            <a:r>
              <a:rPr sz="2900" b="1">
                <a:solidFill>
                  <a:srgbClr val="121E30"/>
                </a:solidFill>
                <a:latin typeface="Aptos"/>
              </a:rPr>
              <a:t>8 400</a:t>
            </a:r>
          </a:p>
        </p:txBody>
      </p:sp>
      <p:sp>
        <p:nvSpPr>
          <p:cNvPr id="10" name="TextBox 9"/>
          <p:cNvSpPr txBox="1"/>
          <p:nvPr/>
        </p:nvSpPr>
        <p:spPr>
          <a:xfrm>
            <a:off x="932688" y="2670048"/>
            <a:ext cx="2788920" cy="475488"/>
          </a:xfrm>
          <a:prstGeom prst="rect">
            <a:avLst/>
          </a:prstGeom>
          <a:noFill/>
        </p:spPr>
        <p:txBody>
          <a:bodyPr wrap="square" lIns="18288" rIns="18288" tIns="18288" bIns="18288">
            <a:spAutoFit/>
          </a:bodyPr>
          <a:lstStyle/>
          <a:p>
            <a:r>
              <a:rPr sz="1300" b="1">
                <a:solidFill>
                  <a:srgbClr val="232F3E"/>
                </a:solidFill>
                <a:latin typeface="Aptos"/>
              </a:rPr>
              <a:t>Produits dans l’échantillon</a:t>
            </a:r>
          </a:p>
        </p:txBody>
      </p:sp>
      <p:sp>
        <p:nvSpPr>
          <p:cNvPr id="11" name="Rounded Rectangle 10"/>
          <p:cNvSpPr/>
          <p:nvPr/>
        </p:nvSpPr>
        <p:spPr>
          <a:xfrm>
            <a:off x="4526280" y="1920240"/>
            <a:ext cx="3154680" cy="182880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2066544"/>
            <a:ext cx="2788920" cy="530352"/>
          </a:xfrm>
          <a:prstGeom prst="rect">
            <a:avLst/>
          </a:prstGeom>
          <a:noFill/>
        </p:spPr>
        <p:txBody>
          <a:bodyPr wrap="square" lIns="18288" rIns="18288" tIns="18288" bIns="18288">
            <a:spAutoFit/>
          </a:bodyPr>
          <a:lstStyle/>
          <a:p>
            <a:r>
              <a:rPr sz="2900" b="1">
                <a:solidFill>
                  <a:srgbClr val="00897B"/>
                </a:solidFill>
                <a:latin typeface="Aptos"/>
              </a:rPr>
              <a:t>6 674</a:t>
            </a:r>
          </a:p>
        </p:txBody>
      </p:sp>
      <p:sp>
        <p:nvSpPr>
          <p:cNvPr id="13" name="TextBox 12"/>
          <p:cNvSpPr txBox="1"/>
          <p:nvPr/>
        </p:nvSpPr>
        <p:spPr>
          <a:xfrm>
            <a:off x="4727448" y="2670048"/>
            <a:ext cx="2788920" cy="475488"/>
          </a:xfrm>
          <a:prstGeom prst="rect">
            <a:avLst/>
          </a:prstGeom>
          <a:noFill/>
        </p:spPr>
        <p:txBody>
          <a:bodyPr wrap="square" lIns="18288" rIns="18288" tIns="18288" bIns="18288">
            <a:spAutoFit/>
          </a:bodyPr>
          <a:lstStyle/>
          <a:p>
            <a:r>
              <a:rPr sz="1300" b="1">
                <a:solidFill>
                  <a:srgbClr val="232F3E"/>
                </a:solidFill>
                <a:latin typeface="Aptos"/>
              </a:rPr>
              <a:t>Rayon connu</a:t>
            </a:r>
          </a:p>
        </p:txBody>
      </p:sp>
      <p:sp>
        <p:nvSpPr>
          <p:cNvPr id="14" name="Rounded Rectangle 13"/>
          <p:cNvSpPr/>
          <p:nvPr/>
        </p:nvSpPr>
        <p:spPr>
          <a:xfrm>
            <a:off x="8321040" y="1920240"/>
            <a:ext cx="3154680" cy="182880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22208" y="2066544"/>
            <a:ext cx="2788920" cy="530352"/>
          </a:xfrm>
          <a:prstGeom prst="rect">
            <a:avLst/>
          </a:prstGeom>
          <a:noFill/>
        </p:spPr>
        <p:txBody>
          <a:bodyPr wrap="square" lIns="18288" rIns="18288" tIns="18288" bIns="18288">
            <a:spAutoFit/>
          </a:bodyPr>
          <a:lstStyle/>
          <a:p>
            <a:r>
              <a:rPr sz="2900" b="1">
                <a:solidFill>
                  <a:srgbClr val="E88937"/>
                </a:solidFill>
                <a:latin typeface="Aptos"/>
              </a:rPr>
              <a:t>1 726</a:t>
            </a:r>
          </a:p>
        </p:txBody>
      </p:sp>
      <p:sp>
        <p:nvSpPr>
          <p:cNvPr id="16" name="TextBox 15"/>
          <p:cNvSpPr txBox="1"/>
          <p:nvPr/>
        </p:nvSpPr>
        <p:spPr>
          <a:xfrm>
            <a:off x="8522208" y="2670048"/>
            <a:ext cx="2788920" cy="475488"/>
          </a:xfrm>
          <a:prstGeom prst="rect">
            <a:avLst/>
          </a:prstGeom>
          <a:noFill/>
        </p:spPr>
        <p:txBody>
          <a:bodyPr wrap="square" lIns="18288" rIns="18288" tIns="18288" bIns="18288">
            <a:spAutoFit/>
          </a:bodyPr>
          <a:lstStyle/>
          <a:p>
            <a:r>
              <a:rPr sz="1300" b="1">
                <a:solidFill>
                  <a:srgbClr val="232F3E"/>
                </a:solidFill>
                <a:latin typeface="Aptos"/>
              </a:rPr>
              <a:t>Rayon inconnu</a:t>
            </a:r>
          </a:p>
        </p:txBody>
      </p:sp>
      <p:sp>
        <p:nvSpPr>
          <p:cNvPr id="17" name="TextBox 16"/>
          <p:cNvSpPr txBox="1"/>
          <p:nvPr/>
        </p:nvSpPr>
        <p:spPr>
          <a:xfrm>
            <a:off x="8522208" y="3154680"/>
            <a:ext cx="2788920" cy="502920"/>
          </a:xfrm>
          <a:prstGeom prst="rect">
            <a:avLst/>
          </a:prstGeom>
          <a:noFill/>
        </p:spPr>
        <p:txBody>
          <a:bodyPr wrap="square" lIns="18288" rIns="18288" tIns="18288" bIns="18288">
            <a:spAutoFit/>
          </a:bodyPr>
          <a:lstStyle/>
          <a:p>
            <a:r>
              <a:rPr sz="1000" b="0">
                <a:solidFill>
                  <a:srgbClr val="667484"/>
                </a:solidFill>
                <a:latin typeface="Aptos"/>
              </a:rPr>
              <a:t>1 700 « unknown »
26 sans valeur</a:t>
            </a:r>
          </a:p>
        </p:txBody>
      </p:sp>
      <p:sp>
        <p:nvSpPr>
          <p:cNvPr id="18" name="TextBox 17"/>
          <p:cNvSpPr txBox="1"/>
          <p:nvPr/>
        </p:nvSpPr>
        <p:spPr>
          <a:xfrm>
            <a:off x="914400" y="4251960"/>
            <a:ext cx="10241280" cy="320040"/>
          </a:xfrm>
          <a:prstGeom prst="rect">
            <a:avLst/>
          </a:prstGeom>
          <a:noFill/>
        </p:spPr>
        <p:txBody>
          <a:bodyPr wrap="square" lIns="18288" rIns="18288" tIns="18288" bIns="18288">
            <a:spAutoFit/>
          </a:bodyPr>
          <a:lstStyle/>
          <a:p>
            <a:r>
              <a:rPr sz="1500" b="1">
                <a:solidFill>
                  <a:srgbClr val="121E30"/>
                </a:solidFill>
                <a:latin typeface="Aptos"/>
              </a:rPr>
              <a:t>Répartition du périmètre</a:t>
            </a:r>
          </a:p>
        </p:txBody>
      </p:sp>
      <p:sp>
        <p:nvSpPr>
          <p:cNvPr id="19" name="Rectangle 18"/>
          <p:cNvSpPr/>
          <p:nvPr/>
        </p:nvSpPr>
        <p:spPr>
          <a:xfrm>
            <a:off x="914400" y="4754880"/>
            <a:ext cx="8136940" cy="56692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51340" y="4754880"/>
            <a:ext cx="2104339" cy="566928"/>
          </a:xfrm>
          <a:prstGeom prst="rect">
            <a:avLst/>
          </a:prstGeom>
          <a:solidFill>
            <a:srgbClr val="E88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68112"/>
            <a:ext cx="4937760" cy="292608"/>
          </a:xfrm>
          <a:prstGeom prst="rect">
            <a:avLst/>
          </a:prstGeom>
          <a:noFill/>
        </p:spPr>
        <p:txBody>
          <a:bodyPr wrap="square" lIns="18288" rIns="18288" tIns="18288" bIns="18288">
            <a:spAutoFit/>
          </a:bodyPr>
          <a:lstStyle/>
          <a:p>
            <a:r>
              <a:rPr sz="1200" b="1">
                <a:solidFill>
                  <a:srgbClr val="00897B"/>
                </a:solidFill>
                <a:latin typeface="Aptos"/>
              </a:rPr>
              <a:t>79,5 %  rayon connu</a:t>
            </a:r>
          </a:p>
        </p:txBody>
      </p:sp>
      <p:sp>
        <p:nvSpPr>
          <p:cNvPr id="22" name="TextBox 21"/>
          <p:cNvSpPr txBox="1"/>
          <p:nvPr/>
        </p:nvSpPr>
        <p:spPr>
          <a:xfrm>
            <a:off x="7315200" y="5468112"/>
            <a:ext cx="3749039" cy="292608"/>
          </a:xfrm>
          <a:prstGeom prst="rect">
            <a:avLst/>
          </a:prstGeom>
          <a:noFill/>
        </p:spPr>
        <p:txBody>
          <a:bodyPr wrap="square" lIns="18288" rIns="18288" tIns="18288" bIns="18288">
            <a:spAutoFit/>
          </a:bodyPr>
          <a:lstStyle/>
          <a:p>
            <a:r>
              <a:rPr sz="1200" b="1">
                <a:solidFill>
                  <a:srgbClr val="E88937"/>
                </a:solidFill>
                <a:latin typeface="Aptos"/>
              </a:rPr>
              <a:t>20,5 %  sans rayon</a:t>
            </a:r>
          </a:p>
        </p:txBody>
      </p:sp>
      <p:sp>
        <p:nvSpPr>
          <p:cNvPr id="23" name="TextBox 22"/>
          <p:cNvSpPr txBox="1"/>
          <p:nvPr/>
        </p:nvSpPr>
        <p:spPr>
          <a:xfrm>
            <a:off x="914400" y="5897880"/>
            <a:ext cx="10241280" cy="320040"/>
          </a:xfrm>
          <a:prstGeom prst="rect">
            <a:avLst/>
          </a:prstGeom>
          <a:noFill/>
        </p:spPr>
        <p:txBody>
          <a:bodyPr wrap="square" lIns="18288" rIns="18288" tIns="18288" bIns="18288">
            <a:spAutoFit/>
          </a:bodyPr>
          <a:lstStyle/>
          <a:p>
            <a:r>
              <a:rPr sz="1300" b="1">
                <a:solidFill>
                  <a:srgbClr val="232F3E"/>
                </a:solidFill>
                <a:latin typeface="Aptos"/>
              </a:rPr>
              <a:t>Priorité : fiabiliser le rattachement aux rayons avant d’élargir les comparaisons.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98480" cy="256032"/>
          </a:xfrm>
          <a:prstGeom prst="rect">
            <a:avLst/>
          </a:prstGeom>
          <a:noFill/>
        </p:spPr>
        <p:txBody>
          <a:bodyPr wrap="square" lIns="18288" rIns="18288" tIns="18288" bIns="18288">
            <a:spAutoFit/>
          </a:bodyPr>
          <a:lstStyle/>
          <a:p>
            <a:r>
              <a:rPr sz="1000" b="1">
                <a:solidFill>
                  <a:srgbClr val="00897B"/>
                </a:solidFill>
                <a:latin typeface="Aptos"/>
              </a:rPr>
              <a:t>04 · COMPLÉTUDE</a:t>
            </a:r>
          </a:p>
        </p:txBody>
      </p:sp>
      <p:sp>
        <p:nvSpPr>
          <p:cNvPr id="4" name="TextBox 3"/>
          <p:cNvSpPr txBox="1"/>
          <p:nvPr/>
        </p:nvSpPr>
        <p:spPr>
          <a:xfrm>
            <a:off x="594360" y="658368"/>
            <a:ext cx="10972800" cy="566928"/>
          </a:xfrm>
          <a:prstGeom prst="rect">
            <a:avLst/>
          </a:prstGeom>
          <a:noFill/>
        </p:spPr>
        <p:txBody>
          <a:bodyPr wrap="square" lIns="18288" rIns="18288" tIns="18288" bIns="18288">
            <a:spAutoFit/>
          </a:bodyPr>
          <a:lstStyle/>
          <a:p>
            <a:r>
              <a:rPr sz="2700" b="1">
                <a:solidFill>
                  <a:srgbClr val="121E30"/>
                </a:solidFill>
                <a:latin typeface="Aptos"/>
              </a:rPr>
              <a:t>Une fiche complète n’est pas forcément une fiche fiable</a:t>
            </a:r>
          </a:p>
        </p:txBody>
      </p:sp>
      <p:sp>
        <p:nvSpPr>
          <p:cNvPr id="5" name="TextBox 4"/>
          <p:cNvSpPr txBox="1"/>
          <p:nvPr/>
        </p:nvSpPr>
        <p:spPr>
          <a:xfrm>
            <a:off x="621792" y="1261872"/>
            <a:ext cx="10881360" cy="384048"/>
          </a:xfrm>
          <a:prstGeom prst="rect">
            <a:avLst/>
          </a:prstGeom>
          <a:noFill/>
        </p:spPr>
        <p:txBody>
          <a:bodyPr wrap="square" lIns="18288" rIns="18288" tIns="18288" bIns="18288">
            <a:spAutoFit/>
          </a:bodyPr>
          <a:lstStyle/>
          <a:p>
            <a:r>
              <a:rPr sz="1300" b="0">
                <a:solidFill>
                  <a:srgbClr val="667484"/>
                </a:solidFill>
                <a:latin typeface="Aptos"/>
              </a:rPr>
              <a:t>Complétude = présence des sept nutriments clés ; cela ne garantit pas leur exactitude.</a:t>
            </a:r>
          </a:p>
        </p:txBody>
      </p:sp>
      <p:sp>
        <p:nvSpPr>
          <p:cNvPr id="6" name="TextBox 5"/>
          <p:cNvSpPr txBox="1"/>
          <p:nvPr/>
        </p:nvSpPr>
        <p:spPr>
          <a:xfrm>
            <a:off x="621792" y="6510528"/>
            <a:ext cx="9875520" cy="182880"/>
          </a:xfrm>
          <a:prstGeom prst="rect">
            <a:avLst/>
          </a:prstGeom>
          <a:noFill/>
        </p:spPr>
        <p:txBody>
          <a:bodyPr wrap="square" lIns="18288" rIns="18288" tIns="18288" bIns="18288">
            <a:spAutoFit/>
          </a:bodyPr>
          <a:lstStyle/>
          <a:p>
            <a:r>
              <a:rPr sz="800" b="0">
                <a:solidFill>
                  <a:srgbClr val="667484"/>
                </a:solidFill>
                <a:latin typeface="Aptos"/>
              </a:rPr>
              <a:t>NutriScope · TP11 · Échantillon Open Food Facts — nettoyage minimal</a:t>
            </a:r>
          </a:p>
        </p:txBody>
      </p:sp>
      <p:sp>
        <p:nvSpPr>
          <p:cNvPr id="7" name="TextBox 6"/>
          <p:cNvSpPr txBox="1"/>
          <p:nvPr/>
        </p:nvSpPr>
        <p:spPr>
          <a:xfrm>
            <a:off x="11064240" y="6492240"/>
            <a:ext cx="457200" cy="201168"/>
          </a:xfrm>
          <a:prstGeom prst="rect">
            <a:avLst/>
          </a:prstGeom>
          <a:noFill/>
        </p:spPr>
        <p:txBody>
          <a:bodyPr wrap="square" lIns="18288" rIns="18288" tIns="18288" bIns="18288">
            <a:spAutoFit/>
          </a:bodyPr>
          <a:lstStyle/>
          <a:p>
            <a:pPr algn="r"/>
            <a:r>
              <a:rPr sz="900" b="1">
                <a:solidFill>
                  <a:srgbClr val="667484"/>
                </a:solidFill>
                <a:latin typeface="Aptos"/>
              </a:rPr>
              <a:t>05/07</a:t>
            </a:r>
          </a:p>
        </p:txBody>
      </p:sp>
      <p:sp>
        <p:nvSpPr>
          <p:cNvPr id="8" name="Rounded Rectangle 7"/>
          <p:cNvSpPr/>
          <p:nvPr/>
        </p:nvSpPr>
        <p:spPr>
          <a:xfrm>
            <a:off x="777240" y="1874519"/>
            <a:ext cx="3246120" cy="196596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020824"/>
            <a:ext cx="2880360" cy="530352"/>
          </a:xfrm>
          <a:prstGeom prst="rect">
            <a:avLst/>
          </a:prstGeom>
          <a:noFill/>
        </p:spPr>
        <p:txBody>
          <a:bodyPr wrap="square" lIns="18288" rIns="18288" tIns="18288" bIns="18288">
            <a:spAutoFit/>
          </a:bodyPr>
          <a:lstStyle/>
          <a:p>
            <a:r>
              <a:rPr sz="2900" b="1">
                <a:solidFill>
                  <a:srgbClr val="00897B"/>
                </a:solidFill>
                <a:latin typeface="Aptos"/>
              </a:rPr>
              <a:t>79,5 %</a:t>
            </a:r>
          </a:p>
        </p:txBody>
      </p:sp>
      <p:sp>
        <p:nvSpPr>
          <p:cNvPr id="10" name="TextBox 9"/>
          <p:cNvSpPr txBox="1"/>
          <p:nvPr/>
        </p:nvSpPr>
        <p:spPr>
          <a:xfrm>
            <a:off x="978408" y="2624327"/>
            <a:ext cx="2880360" cy="475488"/>
          </a:xfrm>
          <a:prstGeom prst="rect">
            <a:avLst/>
          </a:prstGeom>
          <a:noFill/>
        </p:spPr>
        <p:txBody>
          <a:bodyPr wrap="square" lIns="18288" rIns="18288" tIns="18288" bIns="18288">
            <a:spAutoFit/>
          </a:bodyPr>
          <a:lstStyle/>
          <a:p>
            <a:r>
              <a:rPr sz="1300" b="1">
                <a:solidFill>
                  <a:srgbClr val="232F3E"/>
                </a:solidFill>
                <a:latin typeface="Aptos"/>
              </a:rPr>
              <a:t>Fiches complètes</a:t>
            </a:r>
          </a:p>
        </p:txBody>
      </p:sp>
      <p:sp>
        <p:nvSpPr>
          <p:cNvPr id="11" name="TextBox 10"/>
          <p:cNvSpPr txBox="1"/>
          <p:nvPr/>
        </p:nvSpPr>
        <p:spPr>
          <a:xfrm>
            <a:off x="978408" y="3108960"/>
            <a:ext cx="2880360" cy="640080"/>
          </a:xfrm>
          <a:prstGeom prst="rect">
            <a:avLst/>
          </a:prstGeom>
          <a:noFill/>
        </p:spPr>
        <p:txBody>
          <a:bodyPr wrap="square" lIns="18288" rIns="18288" tIns="18288" bIns="18288">
            <a:spAutoFit/>
          </a:bodyPr>
          <a:lstStyle/>
          <a:p>
            <a:r>
              <a:rPr sz="1000" b="0">
                <a:solidFill>
                  <a:srgbClr val="667484"/>
                </a:solidFill>
                <a:latin typeface="Aptos"/>
              </a:rPr>
              <a:t>5 307 sur 6 674 produits à rayon connu</a:t>
            </a:r>
          </a:p>
        </p:txBody>
      </p:sp>
      <p:sp>
        <p:nvSpPr>
          <p:cNvPr id="12" name="Rounded Rectangle 11"/>
          <p:cNvSpPr/>
          <p:nvPr/>
        </p:nvSpPr>
        <p:spPr>
          <a:xfrm>
            <a:off x="4480560" y="1874519"/>
            <a:ext cx="3246120" cy="196596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020824"/>
            <a:ext cx="2880360" cy="530352"/>
          </a:xfrm>
          <a:prstGeom prst="rect">
            <a:avLst/>
          </a:prstGeom>
          <a:noFill/>
        </p:spPr>
        <p:txBody>
          <a:bodyPr wrap="square" lIns="18288" rIns="18288" tIns="18288" bIns="18288">
            <a:spAutoFit/>
          </a:bodyPr>
          <a:lstStyle/>
          <a:p>
            <a:r>
              <a:rPr sz="2900" b="1">
                <a:solidFill>
                  <a:srgbClr val="E88937"/>
                </a:solidFill>
                <a:latin typeface="Aptos"/>
              </a:rPr>
              <a:t>14 %</a:t>
            </a:r>
          </a:p>
        </p:txBody>
      </p:sp>
      <p:sp>
        <p:nvSpPr>
          <p:cNvPr id="14" name="TextBox 13"/>
          <p:cNvSpPr txBox="1"/>
          <p:nvPr/>
        </p:nvSpPr>
        <p:spPr>
          <a:xfrm>
            <a:off x="4681728" y="2624327"/>
            <a:ext cx="2880360" cy="475488"/>
          </a:xfrm>
          <a:prstGeom prst="rect">
            <a:avLst/>
          </a:prstGeom>
          <a:noFill/>
        </p:spPr>
        <p:txBody>
          <a:bodyPr wrap="square" lIns="18288" rIns="18288" tIns="18288" bIns="18288">
            <a:spAutoFit/>
          </a:bodyPr>
          <a:lstStyle/>
          <a:p>
            <a:r>
              <a:rPr sz="1300" b="1">
                <a:solidFill>
                  <a:srgbClr val="232F3E"/>
                </a:solidFill>
                <a:latin typeface="Aptos"/>
              </a:rPr>
              <a:t>Boissons alcoolisées</a:t>
            </a:r>
          </a:p>
        </p:txBody>
      </p:sp>
      <p:sp>
        <p:nvSpPr>
          <p:cNvPr id="15" name="TextBox 14"/>
          <p:cNvSpPr txBox="1"/>
          <p:nvPr/>
        </p:nvSpPr>
        <p:spPr>
          <a:xfrm>
            <a:off x="4681728" y="3108960"/>
            <a:ext cx="2880360" cy="640080"/>
          </a:xfrm>
          <a:prstGeom prst="rect">
            <a:avLst/>
          </a:prstGeom>
          <a:noFill/>
        </p:spPr>
        <p:txBody>
          <a:bodyPr wrap="square" lIns="18288" rIns="18288" tIns="18288" bIns="18288">
            <a:spAutoFit/>
          </a:bodyPr>
          <a:lstStyle/>
          <a:p>
            <a:r>
              <a:rPr sz="1000" b="0">
                <a:solidFill>
                  <a:srgbClr val="667484"/>
                </a:solidFill>
                <a:latin typeface="Aptos"/>
              </a:rPr>
              <a:t>Complétude du rayon</a:t>
            </a:r>
          </a:p>
        </p:txBody>
      </p:sp>
      <p:sp>
        <p:nvSpPr>
          <p:cNvPr id="16" name="Rounded Rectangle 15"/>
          <p:cNvSpPr/>
          <p:nvPr/>
        </p:nvSpPr>
        <p:spPr>
          <a:xfrm>
            <a:off x="8183879" y="1874519"/>
            <a:ext cx="3246120" cy="196596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2020824"/>
            <a:ext cx="2880360" cy="530352"/>
          </a:xfrm>
          <a:prstGeom prst="rect">
            <a:avLst/>
          </a:prstGeom>
          <a:noFill/>
        </p:spPr>
        <p:txBody>
          <a:bodyPr wrap="square" lIns="18288" rIns="18288" tIns="18288" bIns="18288">
            <a:spAutoFit/>
          </a:bodyPr>
          <a:lstStyle/>
          <a:p>
            <a:r>
              <a:rPr sz="2900" b="1">
                <a:solidFill>
                  <a:srgbClr val="121E30"/>
                </a:solidFill>
                <a:latin typeface="Aptos"/>
              </a:rPr>
              <a:t>71–92 %</a:t>
            </a:r>
          </a:p>
        </p:txBody>
      </p:sp>
      <p:sp>
        <p:nvSpPr>
          <p:cNvPr id="18" name="TextBox 17"/>
          <p:cNvSpPr txBox="1"/>
          <p:nvPr/>
        </p:nvSpPr>
        <p:spPr>
          <a:xfrm>
            <a:off x="8385048" y="2624327"/>
            <a:ext cx="2880360" cy="475488"/>
          </a:xfrm>
          <a:prstGeom prst="rect">
            <a:avLst/>
          </a:prstGeom>
          <a:noFill/>
        </p:spPr>
        <p:txBody>
          <a:bodyPr wrap="square" lIns="18288" rIns="18288" tIns="18288" bIns="18288">
            <a:spAutoFit/>
          </a:bodyPr>
          <a:lstStyle/>
          <a:p>
            <a:r>
              <a:rPr sz="1300" b="1">
                <a:solidFill>
                  <a:srgbClr val="232F3E"/>
                </a:solidFill>
                <a:latin typeface="Aptos"/>
              </a:rPr>
              <a:t>10 autres rayons</a:t>
            </a:r>
          </a:p>
        </p:txBody>
      </p:sp>
      <p:sp>
        <p:nvSpPr>
          <p:cNvPr id="19" name="TextBox 18"/>
          <p:cNvSpPr txBox="1"/>
          <p:nvPr/>
        </p:nvSpPr>
        <p:spPr>
          <a:xfrm>
            <a:off x="8385048" y="3108960"/>
            <a:ext cx="2880360" cy="640080"/>
          </a:xfrm>
          <a:prstGeom prst="rect">
            <a:avLst/>
          </a:prstGeom>
          <a:noFill/>
        </p:spPr>
        <p:txBody>
          <a:bodyPr wrap="square" lIns="18288" rIns="18288" tIns="18288" bIns="18288">
            <a:spAutoFit/>
          </a:bodyPr>
          <a:lstStyle/>
          <a:p>
            <a:r>
              <a:rPr sz="1000" b="0">
                <a:solidFill>
                  <a:srgbClr val="667484"/>
                </a:solidFill>
                <a:latin typeface="Aptos"/>
              </a:rPr>
              <a:t>Fourchette observée</a:t>
            </a:r>
          </a:p>
        </p:txBody>
      </p:sp>
      <p:sp>
        <p:nvSpPr>
          <p:cNvPr id="20" name="TextBox 19"/>
          <p:cNvSpPr txBox="1"/>
          <p:nvPr/>
        </p:nvSpPr>
        <p:spPr>
          <a:xfrm>
            <a:off x="914400" y="4434840"/>
            <a:ext cx="9875520" cy="320040"/>
          </a:xfrm>
          <a:prstGeom prst="rect">
            <a:avLst/>
          </a:prstGeom>
          <a:noFill/>
        </p:spPr>
        <p:txBody>
          <a:bodyPr wrap="square" lIns="18288" rIns="18288" tIns="18288" bIns="18288">
            <a:spAutoFit/>
          </a:bodyPr>
          <a:lstStyle/>
          <a:p>
            <a:r>
              <a:rPr sz="1500" b="1">
                <a:solidFill>
                  <a:srgbClr val="121E30"/>
                </a:solidFill>
                <a:latin typeface="Aptos"/>
              </a:rPr>
              <a:t>Complétude des 7 nutriments clés</a:t>
            </a:r>
          </a:p>
        </p:txBody>
      </p:sp>
      <p:sp>
        <p:nvSpPr>
          <p:cNvPr id="21" name="TextBox 20"/>
          <p:cNvSpPr txBox="1"/>
          <p:nvPr/>
        </p:nvSpPr>
        <p:spPr>
          <a:xfrm>
            <a:off x="914400" y="4892040"/>
            <a:ext cx="2423160" cy="228600"/>
          </a:xfrm>
          <a:prstGeom prst="rect">
            <a:avLst/>
          </a:prstGeom>
          <a:noFill/>
        </p:spPr>
        <p:txBody>
          <a:bodyPr wrap="square" lIns="18288" rIns="18288" tIns="18288" bIns="18288">
            <a:spAutoFit/>
          </a:bodyPr>
          <a:lstStyle/>
          <a:p>
            <a:r>
              <a:rPr sz="1100" b="1">
                <a:solidFill>
                  <a:srgbClr val="232F3E"/>
                </a:solidFill>
                <a:latin typeface="Aptos"/>
              </a:rPr>
              <a:t>Rayons connus (global)</a:t>
            </a:r>
          </a:p>
        </p:txBody>
      </p:sp>
      <p:sp>
        <p:nvSpPr>
          <p:cNvPr id="22" name="Rounded Rectangle 21"/>
          <p:cNvSpPr/>
          <p:nvPr/>
        </p:nvSpPr>
        <p:spPr>
          <a:xfrm>
            <a:off x="3429000" y="4892040"/>
            <a:ext cx="5943600" cy="256032"/>
          </a:xfrm>
          <a:prstGeom prst="round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29000" y="4892040"/>
            <a:ext cx="4725162" cy="256032"/>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55480" y="4837176"/>
            <a:ext cx="914400" cy="320040"/>
          </a:xfrm>
          <a:prstGeom prst="rect">
            <a:avLst/>
          </a:prstGeom>
          <a:noFill/>
        </p:spPr>
        <p:txBody>
          <a:bodyPr wrap="square" lIns="18288" rIns="18288" tIns="18288" bIns="18288">
            <a:spAutoFit/>
          </a:bodyPr>
          <a:lstStyle/>
          <a:p>
            <a:r>
              <a:rPr sz="1200" b="1">
                <a:solidFill>
                  <a:srgbClr val="00897B"/>
                </a:solidFill>
                <a:latin typeface="Aptos"/>
              </a:rPr>
              <a:t>79.5 %</a:t>
            </a:r>
          </a:p>
        </p:txBody>
      </p:sp>
      <p:sp>
        <p:nvSpPr>
          <p:cNvPr id="25" name="TextBox 24"/>
          <p:cNvSpPr txBox="1"/>
          <p:nvPr/>
        </p:nvSpPr>
        <p:spPr>
          <a:xfrm>
            <a:off x="914400" y="5532120"/>
            <a:ext cx="2423160" cy="228600"/>
          </a:xfrm>
          <a:prstGeom prst="rect">
            <a:avLst/>
          </a:prstGeom>
          <a:noFill/>
        </p:spPr>
        <p:txBody>
          <a:bodyPr wrap="square" lIns="18288" rIns="18288" tIns="18288" bIns="18288">
            <a:spAutoFit/>
          </a:bodyPr>
          <a:lstStyle/>
          <a:p>
            <a:r>
              <a:rPr sz="1100" b="1">
                <a:solidFill>
                  <a:srgbClr val="232F3E"/>
                </a:solidFill>
                <a:latin typeface="Aptos"/>
              </a:rPr>
              <a:t>Boissons alcoolisées</a:t>
            </a:r>
          </a:p>
        </p:txBody>
      </p:sp>
      <p:sp>
        <p:nvSpPr>
          <p:cNvPr id="26" name="Rounded Rectangle 25"/>
          <p:cNvSpPr/>
          <p:nvPr/>
        </p:nvSpPr>
        <p:spPr>
          <a:xfrm>
            <a:off x="3429000" y="5532120"/>
            <a:ext cx="5943600" cy="256032"/>
          </a:xfrm>
          <a:prstGeom prst="round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429000" y="5532120"/>
            <a:ext cx="832104" cy="256032"/>
          </a:xfrm>
          <a:prstGeom prst="roundRect">
            <a:avLst/>
          </a:prstGeom>
          <a:solidFill>
            <a:srgbClr val="E88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5477256"/>
            <a:ext cx="914400" cy="320040"/>
          </a:xfrm>
          <a:prstGeom prst="rect">
            <a:avLst/>
          </a:prstGeom>
          <a:noFill/>
        </p:spPr>
        <p:txBody>
          <a:bodyPr wrap="square" lIns="18288" rIns="18288" tIns="18288" bIns="18288">
            <a:spAutoFit/>
          </a:bodyPr>
          <a:lstStyle/>
          <a:p>
            <a:r>
              <a:rPr sz="1200" b="1">
                <a:solidFill>
                  <a:srgbClr val="E88937"/>
                </a:solidFill>
                <a:latin typeface="Aptos"/>
              </a:rPr>
              <a:t>14 %</a:t>
            </a:r>
          </a:p>
        </p:txBody>
      </p:sp>
      <p:sp>
        <p:nvSpPr>
          <p:cNvPr id="29" name="TextBox 28"/>
          <p:cNvSpPr txBox="1"/>
          <p:nvPr/>
        </p:nvSpPr>
        <p:spPr>
          <a:xfrm>
            <a:off x="914400" y="6080760"/>
            <a:ext cx="10241280" cy="228600"/>
          </a:xfrm>
          <a:prstGeom prst="rect">
            <a:avLst/>
          </a:prstGeom>
          <a:noFill/>
        </p:spPr>
        <p:txBody>
          <a:bodyPr wrap="square" lIns="18288" rIns="18288" tIns="18288" bIns="18288">
            <a:spAutoFit/>
          </a:bodyPr>
          <a:lstStyle/>
          <a:p>
            <a:r>
              <a:rPr sz="1200" b="1">
                <a:solidFill>
                  <a:srgbClr val="121E30"/>
                </a:solidFill>
                <a:latin typeface="Aptos"/>
              </a:rPr>
              <a:t>NutriScope devrait signaler les informations manquantes et la qualité de la fiche.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98480" cy="256032"/>
          </a:xfrm>
          <a:prstGeom prst="rect">
            <a:avLst/>
          </a:prstGeom>
          <a:noFill/>
        </p:spPr>
        <p:txBody>
          <a:bodyPr wrap="square" lIns="18288" rIns="18288" tIns="18288" bIns="18288">
            <a:spAutoFit/>
          </a:bodyPr>
          <a:lstStyle/>
          <a:p>
            <a:r>
              <a:rPr sz="1000" b="1">
                <a:solidFill>
                  <a:srgbClr val="00897B"/>
                </a:solidFill>
                <a:latin typeface="Aptos"/>
              </a:rPr>
              <a:t>05 · COHÉRENCE</a:t>
            </a:r>
          </a:p>
        </p:txBody>
      </p:sp>
      <p:sp>
        <p:nvSpPr>
          <p:cNvPr id="4" name="TextBox 3"/>
          <p:cNvSpPr txBox="1"/>
          <p:nvPr/>
        </p:nvSpPr>
        <p:spPr>
          <a:xfrm>
            <a:off x="594360" y="658368"/>
            <a:ext cx="10972800" cy="566928"/>
          </a:xfrm>
          <a:prstGeom prst="rect">
            <a:avLst/>
          </a:prstGeom>
          <a:noFill/>
        </p:spPr>
        <p:txBody>
          <a:bodyPr wrap="square" lIns="18288" rIns="18288" tIns="18288" bIns="18288">
            <a:spAutoFit/>
          </a:bodyPr>
          <a:lstStyle/>
          <a:p>
            <a:r>
              <a:rPr sz="2700" b="1">
                <a:solidFill>
                  <a:srgbClr val="121E30"/>
                </a:solidFill>
                <a:latin typeface="Aptos"/>
              </a:rPr>
              <a:t>Les contrôles repèrent des cas à vérifier, pas des erreurs certaines</a:t>
            </a:r>
          </a:p>
        </p:txBody>
      </p:sp>
      <p:sp>
        <p:nvSpPr>
          <p:cNvPr id="5" name="TextBox 4"/>
          <p:cNvSpPr txBox="1"/>
          <p:nvPr/>
        </p:nvSpPr>
        <p:spPr>
          <a:xfrm>
            <a:off x="621792" y="1261872"/>
            <a:ext cx="10881360" cy="384048"/>
          </a:xfrm>
          <a:prstGeom prst="rect">
            <a:avLst/>
          </a:prstGeom>
          <a:noFill/>
        </p:spPr>
        <p:txBody>
          <a:bodyPr wrap="square" lIns="18288" rIns="18288" tIns="18288" bIns="18288">
            <a:spAutoFit/>
          </a:bodyPr>
          <a:lstStyle/>
          <a:p>
            <a:r>
              <a:rPr sz="1300" b="0">
                <a:solidFill>
                  <a:srgbClr val="667484"/>
                </a:solidFill>
                <a:latin typeface="Aptos"/>
              </a:rPr>
              <a:t>Le calcul 4/4/9 est une estimation simplifiée de l’énergie à partir des macronutriments.</a:t>
            </a:r>
          </a:p>
        </p:txBody>
      </p:sp>
      <p:sp>
        <p:nvSpPr>
          <p:cNvPr id="6" name="TextBox 5"/>
          <p:cNvSpPr txBox="1"/>
          <p:nvPr/>
        </p:nvSpPr>
        <p:spPr>
          <a:xfrm>
            <a:off x="621792" y="6510528"/>
            <a:ext cx="9875520" cy="182880"/>
          </a:xfrm>
          <a:prstGeom prst="rect">
            <a:avLst/>
          </a:prstGeom>
          <a:noFill/>
        </p:spPr>
        <p:txBody>
          <a:bodyPr wrap="square" lIns="18288" rIns="18288" tIns="18288" bIns="18288">
            <a:spAutoFit/>
          </a:bodyPr>
          <a:lstStyle/>
          <a:p>
            <a:r>
              <a:rPr sz="800" b="0">
                <a:solidFill>
                  <a:srgbClr val="667484"/>
                </a:solidFill>
                <a:latin typeface="Aptos"/>
              </a:rPr>
              <a:t>NutriScope · TP11 · Échantillon Open Food Facts — nettoyage minimal</a:t>
            </a:r>
          </a:p>
        </p:txBody>
      </p:sp>
      <p:sp>
        <p:nvSpPr>
          <p:cNvPr id="7" name="TextBox 6"/>
          <p:cNvSpPr txBox="1"/>
          <p:nvPr/>
        </p:nvSpPr>
        <p:spPr>
          <a:xfrm>
            <a:off x="11064240" y="6492240"/>
            <a:ext cx="457200" cy="201168"/>
          </a:xfrm>
          <a:prstGeom prst="rect">
            <a:avLst/>
          </a:prstGeom>
          <a:noFill/>
        </p:spPr>
        <p:txBody>
          <a:bodyPr wrap="square" lIns="18288" rIns="18288" tIns="18288" bIns="18288">
            <a:spAutoFit/>
          </a:bodyPr>
          <a:lstStyle/>
          <a:p>
            <a:pPr algn="r"/>
            <a:r>
              <a:rPr sz="900" b="1">
                <a:solidFill>
                  <a:srgbClr val="667484"/>
                </a:solidFill>
                <a:latin typeface="Aptos"/>
              </a:rPr>
              <a:t>06/07</a:t>
            </a:r>
          </a:p>
        </p:txBody>
      </p:sp>
      <p:sp>
        <p:nvSpPr>
          <p:cNvPr id="8" name="Rounded Rectangle 7"/>
          <p:cNvSpPr/>
          <p:nvPr/>
        </p:nvSpPr>
        <p:spPr>
          <a:xfrm>
            <a:off x="777240" y="1874519"/>
            <a:ext cx="3246120" cy="196596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020824"/>
            <a:ext cx="2880360" cy="530352"/>
          </a:xfrm>
          <a:prstGeom prst="rect">
            <a:avLst/>
          </a:prstGeom>
          <a:noFill/>
        </p:spPr>
        <p:txBody>
          <a:bodyPr wrap="square" lIns="18288" rIns="18288" tIns="18288" bIns="18288">
            <a:spAutoFit/>
          </a:bodyPr>
          <a:lstStyle/>
          <a:p>
            <a:r>
              <a:rPr sz="2900" b="1">
                <a:solidFill>
                  <a:srgbClr val="C64848"/>
                </a:solidFill>
                <a:latin typeface="Aptos"/>
              </a:rPr>
              <a:t>5,5 %</a:t>
            </a:r>
          </a:p>
        </p:txBody>
      </p:sp>
      <p:sp>
        <p:nvSpPr>
          <p:cNvPr id="10" name="TextBox 9"/>
          <p:cNvSpPr txBox="1"/>
          <p:nvPr/>
        </p:nvSpPr>
        <p:spPr>
          <a:xfrm>
            <a:off x="978408" y="2624327"/>
            <a:ext cx="2880360" cy="475488"/>
          </a:xfrm>
          <a:prstGeom prst="rect">
            <a:avLst/>
          </a:prstGeom>
          <a:noFill/>
        </p:spPr>
        <p:txBody>
          <a:bodyPr wrap="square" lIns="18288" rIns="18288" tIns="18288" bIns="18288">
            <a:spAutoFit/>
          </a:bodyPr>
          <a:lstStyle/>
          <a:p>
            <a:r>
              <a:rPr sz="1300" b="1">
                <a:solidFill>
                  <a:srgbClr val="232F3E"/>
                </a:solidFill>
                <a:latin typeface="Aptos"/>
              </a:rPr>
              <a:t>Avec ≥ 1 incohérence métier</a:t>
            </a:r>
          </a:p>
        </p:txBody>
      </p:sp>
      <p:sp>
        <p:nvSpPr>
          <p:cNvPr id="11" name="TextBox 10"/>
          <p:cNvSpPr txBox="1"/>
          <p:nvPr/>
        </p:nvSpPr>
        <p:spPr>
          <a:xfrm>
            <a:off x="978408" y="3108960"/>
            <a:ext cx="2880360" cy="640080"/>
          </a:xfrm>
          <a:prstGeom prst="rect">
            <a:avLst/>
          </a:prstGeom>
          <a:noFill/>
        </p:spPr>
        <p:txBody>
          <a:bodyPr wrap="square" lIns="18288" rIns="18288" tIns="18288" bIns="18288">
            <a:spAutoFit/>
          </a:bodyPr>
          <a:lstStyle/>
          <a:p>
            <a:r>
              <a:rPr sz="1000" b="0">
                <a:solidFill>
                  <a:srgbClr val="667484"/>
                </a:solidFill>
                <a:latin typeface="Aptos"/>
              </a:rPr>
              <a:t>465 produits sur 8 400</a:t>
            </a:r>
          </a:p>
        </p:txBody>
      </p:sp>
      <p:sp>
        <p:nvSpPr>
          <p:cNvPr id="12" name="Rounded Rectangle 11"/>
          <p:cNvSpPr/>
          <p:nvPr/>
        </p:nvSpPr>
        <p:spPr>
          <a:xfrm>
            <a:off x="4480560" y="1874519"/>
            <a:ext cx="3246120" cy="196596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020824"/>
            <a:ext cx="2880360" cy="530352"/>
          </a:xfrm>
          <a:prstGeom prst="rect">
            <a:avLst/>
          </a:prstGeom>
          <a:noFill/>
        </p:spPr>
        <p:txBody>
          <a:bodyPr wrap="square" lIns="18288" rIns="18288" tIns="18288" bIns="18288">
            <a:spAutoFit/>
          </a:bodyPr>
          <a:lstStyle/>
          <a:p>
            <a:r>
              <a:rPr sz="2900" b="1">
                <a:solidFill>
                  <a:srgbClr val="E88937"/>
                </a:solidFill>
                <a:latin typeface="Aptos"/>
              </a:rPr>
              <a:t>119</a:t>
            </a:r>
          </a:p>
        </p:txBody>
      </p:sp>
      <p:sp>
        <p:nvSpPr>
          <p:cNvPr id="14" name="TextBox 13"/>
          <p:cNvSpPr txBox="1"/>
          <p:nvPr/>
        </p:nvSpPr>
        <p:spPr>
          <a:xfrm>
            <a:off x="4681728" y="2624327"/>
            <a:ext cx="2880360" cy="475488"/>
          </a:xfrm>
          <a:prstGeom prst="rect">
            <a:avLst/>
          </a:prstGeom>
          <a:noFill/>
        </p:spPr>
        <p:txBody>
          <a:bodyPr wrap="square" lIns="18288" rIns="18288" tIns="18288" bIns="18288">
            <a:spAutoFit/>
          </a:bodyPr>
          <a:lstStyle/>
          <a:p>
            <a:r>
              <a:rPr sz="1300" b="1">
                <a:solidFill>
                  <a:srgbClr val="232F3E"/>
                </a:solidFill>
                <a:latin typeface="Aptos"/>
              </a:rPr>
              <a:t>Écarts énergétiques &gt; 150 kcal/100 g</a:t>
            </a:r>
          </a:p>
        </p:txBody>
      </p:sp>
      <p:sp>
        <p:nvSpPr>
          <p:cNvPr id="15" name="TextBox 14"/>
          <p:cNvSpPr txBox="1"/>
          <p:nvPr/>
        </p:nvSpPr>
        <p:spPr>
          <a:xfrm>
            <a:off x="4681728" y="3108960"/>
            <a:ext cx="2880360" cy="640080"/>
          </a:xfrm>
          <a:prstGeom prst="rect">
            <a:avLst/>
          </a:prstGeom>
          <a:noFill/>
        </p:spPr>
        <p:txBody>
          <a:bodyPr wrap="square" lIns="18288" rIns="18288" tIns="18288" bIns="18288">
            <a:spAutoFit/>
          </a:bodyPr>
          <a:lstStyle/>
          <a:p>
            <a:r>
              <a:rPr sz="1000" b="0">
                <a:solidFill>
                  <a:srgbClr val="667484"/>
                </a:solidFill>
                <a:latin typeface="Aptos"/>
              </a:rPr>
              <a:t>Sur 6 731 comparables · ~1,8 %</a:t>
            </a:r>
          </a:p>
        </p:txBody>
      </p:sp>
      <p:sp>
        <p:nvSpPr>
          <p:cNvPr id="16" name="Rounded Rectangle 15"/>
          <p:cNvSpPr/>
          <p:nvPr/>
        </p:nvSpPr>
        <p:spPr>
          <a:xfrm>
            <a:off x="8183879" y="1874519"/>
            <a:ext cx="3246120" cy="1965960"/>
          </a:xfrm>
          <a:prstGeom prst="roundRect">
            <a:avLst/>
          </a:prstGeom>
          <a:solidFill>
            <a:srgbClr val="FFFFFF"/>
          </a:solidFill>
          <a:ln>
            <a:solidFill>
              <a:srgbClr val="EBF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2020824"/>
            <a:ext cx="2880360" cy="530352"/>
          </a:xfrm>
          <a:prstGeom prst="rect">
            <a:avLst/>
          </a:prstGeom>
          <a:noFill/>
        </p:spPr>
        <p:txBody>
          <a:bodyPr wrap="square" lIns="18288" rIns="18288" tIns="18288" bIns="18288">
            <a:spAutoFit/>
          </a:bodyPr>
          <a:lstStyle/>
          <a:p>
            <a:r>
              <a:rPr sz="2900" b="1">
                <a:solidFill>
                  <a:srgbClr val="00897B"/>
                </a:solidFill>
                <a:latin typeface="Aptos"/>
              </a:rPr>
              <a:t>0,97</a:t>
            </a:r>
          </a:p>
        </p:txBody>
      </p:sp>
      <p:sp>
        <p:nvSpPr>
          <p:cNvPr id="18" name="TextBox 17"/>
          <p:cNvSpPr txBox="1"/>
          <p:nvPr/>
        </p:nvSpPr>
        <p:spPr>
          <a:xfrm>
            <a:off x="8385048" y="2624327"/>
            <a:ext cx="2880360" cy="475488"/>
          </a:xfrm>
          <a:prstGeom prst="rect">
            <a:avLst/>
          </a:prstGeom>
          <a:noFill/>
        </p:spPr>
        <p:txBody>
          <a:bodyPr wrap="square" lIns="18288" rIns="18288" tIns="18288" bIns="18288">
            <a:spAutoFit/>
          </a:bodyPr>
          <a:lstStyle/>
          <a:p>
            <a:r>
              <a:rPr sz="1300" b="1">
                <a:solidFill>
                  <a:srgbClr val="232F3E"/>
                </a:solidFill>
                <a:latin typeface="Aptos"/>
              </a:rPr>
              <a:t>Corrélation énergie déclarée / estimée</a:t>
            </a:r>
          </a:p>
        </p:txBody>
      </p:sp>
      <p:sp>
        <p:nvSpPr>
          <p:cNvPr id="19" name="TextBox 18"/>
          <p:cNvSpPr txBox="1"/>
          <p:nvPr/>
        </p:nvSpPr>
        <p:spPr>
          <a:xfrm>
            <a:off x="8385048" y="3108960"/>
            <a:ext cx="2880360" cy="640080"/>
          </a:xfrm>
          <a:prstGeom prst="rect">
            <a:avLst/>
          </a:prstGeom>
          <a:noFill/>
        </p:spPr>
        <p:txBody>
          <a:bodyPr wrap="square" lIns="18288" rIns="18288" tIns="18288" bIns="18288">
            <a:spAutoFit/>
          </a:bodyPr>
          <a:lstStyle/>
          <a:p>
            <a:r>
              <a:rPr sz="1000" b="0">
                <a:solidFill>
                  <a:srgbClr val="667484"/>
                </a:solidFill>
                <a:latin typeface="Aptos"/>
              </a:rPr>
              <a:t>Sur 6 731 produits comparables</a:t>
            </a:r>
          </a:p>
        </p:txBody>
      </p:sp>
      <p:sp>
        <p:nvSpPr>
          <p:cNvPr id="20" name="TextBox 19"/>
          <p:cNvSpPr txBox="1"/>
          <p:nvPr/>
        </p:nvSpPr>
        <p:spPr>
          <a:xfrm>
            <a:off x="914400" y="4434840"/>
            <a:ext cx="10241280" cy="384048"/>
          </a:xfrm>
          <a:prstGeom prst="rect">
            <a:avLst/>
          </a:prstGeom>
          <a:noFill/>
        </p:spPr>
        <p:txBody>
          <a:bodyPr wrap="square" lIns="18288" rIns="18288" tIns="18288" bIns="18288">
            <a:spAutoFit/>
          </a:bodyPr>
          <a:lstStyle/>
          <a:p>
            <a:r>
              <a:rPr sz="1600" b="1">
                <a:solidFill>
                  <a:srgbClr val="121E30"/>
                </a:solidFill>
                <a:latin typeface="Aptos"/>
              </a:rPr>
              <a:t>Lecture</a:t>
            </a:r>
          </a:p>
        </p:txBody>
      </p:sp>
      <p:sp>
        <p:nvSpPr>
          <p:cNvPr id="21" name="TextBox 20"/>
          <p:cNvSpPr txBox="1"/>
          <p:nvPr/>
        </p:nvSpPr>
        <p:spPr>
          <a:xfrm>
            <a:off x="914400" y="4892040"/>
            <a:ext cx="10058400" cy="1234440"/>
          </a:xfrm>
          <a:prstGeom prst="rect">
            <a:avLst/>
          </a:prstGeom>
          <a:noFill/>
        </p:spPr>
        <p:txBody>
          <a:bodyPr wrap="square" lIns="18288" rIns="18288">
            <a:spAutoFit/>
          </a:bodyPr>
          <a:lstStyle/>
          <a:p>
            <a:pPr>
              <a:spcAft>
                <a:spcPts val="1000"/>
              </a:spcAft>
            </a:pPr>
            <a:r>
              <a:rPr sz="1400" b="0">
                <a:solidFill>
                  <a:srgbClr val="232F3E"/>
                </a:solidFill>
                <a:latin typeface="Aptos"/>
              </a:rPr>
              <a:t>• La majorité des valeurs comparables reste proche de l’estimation.</a:t>
            </a:r>
          </a:p>
          <a:p>
            <a:pPr>
              <a:spcAft>
                <a:spcPts val="1000"/>
              </a:spcAft>
            </a:pPr>
            <a:r>
              <a:rPr sz="1400" b="0">
                <a:solidFill>
                  <a:srgbClr val="232F3E"/>
                </a:solidFill>
                <a:latin typeface="Aptos"/>
              </a:rPr>
              <a:t>• Un écart important est un signal de revue, pas une preuve d’erreur.</a:t>
            </a:r>
          </a:p>
          <a:p>
            <a:pPr>
              <a:spcAft>
                <a:spcPts val="1000"/>
              </a:spcAft>
            </a:pPr>
            <a:r>
              <a:rPr sz="1400" b="0">
                <a:solidFill>
                  <a:srgbClr val="232F3E"/>
                </a:solidFill>
                <a:latin typeface="Aptos"/>
              </a:rPr>
              <a:t>• Ne pas supprimer automatiquement les valeurs extrêmes : certaines sont plausibles.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789920" cy="274320"/>
          </a:xfrm>
          <a:prstGeom prst="rect">
            <a:avLst/>
          </a:prstGeom>
          <a:noFill/>
        </p:spPr>
        <p:txBody>
          <a:bodyPr wrap="square" lIns="18288" rIns="18288" tIns="18288" bIns="18288">
            <a:spAutoFit/>
          </a:bodyPr>
          <a:lstStyle/>
          <a:p>
            <a:r>
              <a:rPr sz="1000" b="1">
                <a:solidFill>
                  <a:srgbClr val="69D5C5"/>
                </a:solidFill>
                <a:latin typeface="Aptos"/>
              </a:rPr>
              <a:t>06 · DÉCISION PRODUIT</a:t>
            </a:r>
          </a:p>
        </p:txBody>
      </p:sp>
      <p:sp>
        <p:nvSpPr>
          <p:cNvPr id="4" name="TextBox 3"/>
          <p:cNvSpPr txBox="1"/>
          <p:nvPr/>
        </p:nvSpPr>
        <p:spPr>
          <a:xfrm>
            <a:off x="685800" y="777240"/>
            <a:ext cx="10698480" cy="685800"/>
          </a:xfrm>
          <a:prstGeom prst="rect">
            <a:avLst/>
          </a:prstGeom>
          <a:noFill/>
        </p:spPr>
        <p:txBody>
          <a:bodyPr wrap="square" lIns="18288" rIns="18288" tIns="18288" bIns="18288">
            <a:spAutoFit/>
          </a:bodyPr>
          <a:lstStyle/>
          <a:p>
            <a:r>
              <a:rPr sz="2500" b="1">
                <a:solidFill>
                  <a:srgbClr val="FFFFFF"/>
                </a:solidFill>
                <a:latin typeface="Aptos"/>
              </a:rPr>
              <a:t>Pour comparer utilement, NutriScope doit montrer le contexte et les limites.</a:t>
            </a:r>
          </a:p>
        </p:txBody>
      </p:sp>
      <p:sp>
        <p:nvSpPr>
          <p:cNvPr id="5" name="TextBox 4"/>
          <p:cNvSpPr txBox="1"/>
          <p:nvPr/>
        </p:nvSpPr>
        <p:spPr>
          <a:xfrm>
            <a:off x="777240" y="1920240"/>
            <a:ext cx="640080" cy="411480"/>
          </a:xfrm>
          <a:prstGeom prst="rect">
            <a:avLst/>
          </a:prstGeom>
          <a:noFill/>
        </p:spPr>
        <p:txBody>
          <a:bodyPr wrap="square" lIns="18288" rIns="18288" tIns="18288" bIns="18288">
            <a:spAutoFit/>
          </a:bodyPr>
          <a:lstStyle/>
          <a:p>
            <a:r>
              <a:rPr sz="2000" b="1">
                <a:solidFill>
                  <a:srgbClr val="69D5C5"/>
                </a:solidFill>
                <a:latin typeface="Aptos"/>
              </a:rPr>
              <a:t>01</a:t>
            </a:r>
          </a:p>
        </p:txBody>
      </p:sp>
      <p:sp>
        <p:nvSpPr>
          <p:cNvPr id="6" name="TextBox 5"/>
          <p:cNvSpPr txBox="1"/>
          <p:nvPr/>
        </p:nvSpPr>
        <p:spPr>
          <a:xfrm>
            <a:off x="777240" y="2487168"/>
            <a:ext cx="2971800" cy="438912"/>
          </a:xfrm>
          <a:prstGeom prst="rect">
            <a:avLst/>
          </a:prstGeom>
          <a:noFill/>
        </p:spPr>
        <p:txBody>
          <a:bodyPr wrap="square" lIns="18288" rIns="18288" tIns="18288" bIns="18288">
            <a:spAutoFit/>
          </a:bodyPr>
          <a:lstStyle/>
          <a:p>
            <a:r>
              <a:rPr sz="1800" b="1">
                <a:solidFill>
                  <a:srgbClr val="FFFFFF"/>
                </a:solidFill>
                <a:latin typeface="Aptos"/>
              </a:rPr>
              <a:t>Contextualiser</a:t>
            </a:r>
          </a:p>
        </p:txBody>
      </p:sp>
      <p:sp>
        <p:nvSpPr>
          <p:cNvPr id="7" name="TextBox 6"/>
          <p:cNvSpPr txBox="1"/>
          <p:nvPr/>
        </p:nvSpPr>
        <p:spPr>
          <a:xfrm>
            <a:off x="777240" y="3063240"/>
            <a:ext cx="2971800" cy="1325880"/>
          </a:xfrm>
          <a:prstGeom prst="rect">
            <a:avLst/>
          </a:prstGeom>
          <a:noFill/>
        </p:spPr>
        <p:txBody>
          <a:bodyPr wrap="square" lIns="18288" rIns="18288" tIns="18288" bIns="18288">
            <a:spAutoFit/>
          </a:bodyPr>
          <a:lstStyle/>
          <a:p>
            <a:r>
              <a:rPr sz="1400" b="0">
                <a:solidFill>
                  <a:srgbClr val="D6E0E9"/>
                </a:solidFill>
                <a:latin typeface="Aptos"/>
              </a:rPr>
              <a:t>Afficher le Nutri-Score avec le rayon et permettre la comparaison au sein d’une même catégorie.</a:t>
            </a:r>
          </a:p>
        </p:txBody>
      </p:sp>
      <p:sp>
        <p:nvSpPr>
          <p:cNvPr id="8" name="TextBox 7"/>
          <p:cNvSpPr txBox="1"/>
          <p:nvPr/>
        </p:nvSpPr>
        <p:spPr>
          <a:xfrm>
            <a:off x="4251960" y="1920240"/>
            <a:ext cx="640080" cy="411480"/>
          </a:xfrm>
          <a:prstGeom prst="rect">
            <a:avLst/>
          </a:prstGeom>
          <a:noFill/>
        </p:spPr>
        <p:txBody>
          <a:bodyPr wrap="square" lIns="18288" rIns="18288" tIns="18288" bIns="18288">
            <a:spAutoFit/>
          </a:bodyPr>
          <a:lstStyle/>
          <a:p>
            <a:r>
              <a:rPr sz="2000" b="1">
                <a:solidFill>
                  <a:srgbClr val="69D5C5"/>
                </a:solidFill>
                <a:latin typeface="Aptos"/>
              </a:rPr>
              <a:t>02</a:t>
            </a:r>
          </a:p>
        </p:txBody>
      </p:sp>
      <p:sp>
        <p:nvSpPr>
          <p:cNvPr id="9" name="TextBox 8"/>
          <p:cNvSpPr txBox="1"/>
          <p:nvPr/>
        </p:nvSpPr>
        <p:spPr>
          <a:xfrm>
            <a:off x="4251960" y="2487168"/>
            <a:ext cx="2971800" cy="438912"/>
          </a:xfrm>
          <a:prstGeom prst="rect">
            <a:avLst/>
          </a:prstGeom>
          <a:noFill/>
        </p:spPr>
        <p:txBody>
          <a:bodyPr wrap="square" lIns="18288" rIns="18288" tIns="18288" bIns="18288">
            <a:spAutoFit/>
          </a:bodyPr>
          <a:lstStyle/>
          <a:p>
            <a:r>
              <a:rPr sz="1800" b="1">
                <a:solidFill>
                  <a:srgbClr val="FFFFFF"/>
                </a:solidFill>
                <a:latin typeface="Aptos"/>
              </a:rPr>
              <a:t>Rendre visible</a:t>
            </a:r>
          </a:p>
        </p:txBody>
      </p:sp>
      <p:sp>
        <p:nvSpPr>
          <p:cNvPr id="10" name="TextBox 9"/>
          <p:cNvSpPr txBox="1"/>
          <p:nvPr/>
        </p:nvSpPr>
        <p:spPr>
          <a:xfrm>
            <a:off x="4251960" y="3063240"/>
            <a:ext cx="2971800" cy="1325880"/>
          </a:xfrm>
          <a:prstGeom prst="rect">
            <a:avLst/>
          </a:prstGeom>
          <a:noFill/>
        </p:spPr>
        <p:txBody>
          <a:bodyPr wrap="square" lIns="18288" rIns="18288" tIns="18288" bIns="18288">
            <a:spAutoFit/>
          </a:bodyPr>
          <a:lstStyle/>
          <a:p>
            <a:r>
              <a:rPr sz="1400" b="0">
                <a:solidFill>
                  <a:srgbClr val="D6E0E9"/>
                </a:solidFill>
                <a:latin typeface="Aptos"/>
              </a:rPr>
              <a:t>Montrer les nutriments manquants et un indicateur de complétude de la fiche.</a:t>
            </a:r>
          </a:p>
        </p:txBody>
      </p:sp>
      <p:sp>
        <p:nvSpPr>
          <p:cNvPr id="11" name="TextBox 10"/>
          <p:cNvSpPr txBox="1"/>
          <p:nvPr/>
        </p:nvSpPr>
        <p:spPr>
          <a:xfrm>
            <a:off x="7726679" y="1920240"/>
            <a:ext cx="640080" cy="411480"/>
          </a:xfrm>
          <a:prstGeom prst="rect">
            <a:avLst/>
          </a:prstGeom>
          <a:noFill/>
        </p:spPr>
        <p:txBody>
          <a:bodyPr wrap="square" lIns="18288" rIns="18288" tIns="18288" bIns="18288">
            <a:spAutoFit/>
          </a:bodyPr>
          <a:lstStyle/>
          <a:p>
            <a:r>
              <a:rPr sz="2000" b="1">
                <a:solidFill>
                  <a:srgbClr val="69D5C5"/>
                </a:solidFill>
                <a:latin typeface="Aptos"/>
              </a:rPr>
              <a:t>03</a:t>
            </a:r>
          </a:p>
        </p:txBody>
      </p:sp>
      <p:sp>
        <p:nvSpPr>
          <p:cNvPr id="12" name="TextBox 11"/>
          <p:cNvSpPr txBox="1"/>
          <p:nvPr/>
        </p:nvSpPr>
        <p:spPr>
          <a:xfrm>
            <a:off x="7726679" y="2487168"/>
            <a:ext cx="2971800" cy="438912"/>
          </a:xfrm>
          <a:prstGeom prst="rect">
            <a:avLst/>
          </a:prstGeom>
          <a:noFill/>
        </p:spPr>
        <p:txBody>
          <a:bodyPr wrap="square" lIns="18288" rIns="18288" tIns="18288" bIns="18288">
            <a:spAutoFit/>
          </a:bodyPr>
          <a:lstStyle/>
          <a:p>
            <a:r>
              <a:rPr sz="1800" b="1">
                <a:solidFill>
                  <a:srgbClr val="FFFFFF"/>
                </a:solidFill>
                <a:latin typeface="Aptos"/>
              </a:rPr>
              <a:t>Contrôler sans effacer</a:t>
            </a:r>
          </a:p>
        </p:txBody>
      </p:sp>
      <p:sp>
        <p:nvSpPr>
          <p:cNvPr id="13" name="TextBox 12"/>
          <p:cNvSpPr txBox="1"/>
          <p:nvPr/>
        </p:nvSpPr>
        <p:spPr>
          <a:xfrm>
            <a:off x="7726679" y="3063240"/>
            <a:ext cx="2971800" cy="1325880"/>
          </a:xfrm>
          <a:prstGeom prst="rect">
            <a:avLst/>
          </a:prstGeom>
          <a:noFill/>
        </p:spPr>
        <p:txBody>
          <a:bodyPr wrap="square" lIns="18288" rIns="18288" tIns="18288" bIns="18288">
            <a:spAutoFit/>
          </a:bodyPr>
          <a:lstStyle/>
          <a:p>
            <a:r>
              <a:rPr sz="1400" b="0">
                <a:solidFill>
                  <a:srgbClr val="D6E0E9"/>
                </a:solidFill>
                <a:latin typeface="Aptos"/>
              </a:rPr>
              <a:t>Signaler les incohérences et valeurs extrêmes pour vérification, sans correction automatique.</a:t>
            </a:r>
          </a:p>
        </p:txBody>
      </p:sp>
      <p:sp>
        <p:nvSpPr>
          <p:cNvPr id="14" name="Rounded Rectangle 13"/>
          <p:cNvSpPr/>
          <p:nvPr/>
        </p:nvSpPr>
        <p:spPr>
          <a:xfrm>
            <a:off x="777240" y="4800600"/>
            <a:ext cx="10515600" cy="914400"/>
          </a:xfrm>
          <a:prstGeom prst="roundRect">
            <a:avLst/>
          </a:prstGeom>
          <a:solidFill>
            <a:srgbClr val="203043"/>
          </a:solidFill>
          <a:ln>
            <a:solidFill>
              <a:srgbClr val="3B50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001768"/>
            <a:ext cx="10058400" cy="548640"/>
          </a:xfrm>
          <a:prstGeom prst="rect">
            <a:avLst/>
          </a:prstGeom>
          <a:noFill/>
        </p:spPr>
        <p:txBody>
          <a:bodyPr wrap="square" lIns="18288" rIns="18288" tIns="18288" bIns="18288">
            <a:spAutoFit/>
          </a:bodyPr>
          <a:lstStyle/>
          <a:p>
            <a:r>
              <a:rPr sz="1300" b="1">
                <a:solidFill>
                  <a:srgbClr val="FFFFFF"/>
                </a:solidFill>
                <a:latin typeface="Aptos"/>
              </a:rPr>
              <a:t>Limite transversale : échantillon de 8 400 produits, nettoyage minimal ; résultats descriptifs, non représentatifs de tout le marché.</a:t>
            </a:r>
          </a:p>
        </p:txBody>
      </p:sp>
      <p:sp>
        <p:nvSpPr>
          <p:cNvPr id="16" name="TextBox 15"/>
          <p:cNvSpPr txBox="1"/>
          <p:nvPr/>
        </p:nvSpPr>
        <p:spPr>
          <a:xfrm>
            <a:off x="822960" y="6080760"/>
            <a:ext cx="10607040" cy="274320"/>
          </a:xfrm>
          <a:prstGeom prst="rect">
            <a:avLst/>
          </a:prstGeom>
          <a:noFill/>
        </p:spPr>
        <p:txBody>
          <a:bodyPr wrap="square" lIns="18288" rIns="18288" tIns="18288" bIns="18288">
            <a:spAutoFit/>
          </a:bodyPr>
          <a:lstStyle/>
          <a:p>
            <a:r>
              <a:rPr sz="900" b="0">
                <a:solidFill>
                  <a:srgbClr val="BECAD6"/>
                </a:solidFill>
                <a:latin typeface="Aptos"/>
              </a:rPr>
              <a:t>Source des données : Open Food Facts contributors · Open Database License (ODbL) · attribution à conserver avec le jeu de données.</a:t>
            </a:r>
          </a:p>
        </p:txBody>
      </p:sp>
      <p:sp>
        <p:nvSpPr>
          <p:cNvPr id="17" name="TextBox 16"/>
          <p:cNvSpPr txBox="1"/>
          <p:nvPr/>
        </p:nvSpPr>
        <p:spPr>
          <a:xfrm>
            <a:off x="822960" y="6473952"/>
            <a:ext cx="9144000" cy="182880"/>
          </a:xfrm>
          <a:prstGeom prst="rect">
            <a:avLst/>
          </a:prstGeom>
          <a:noFill/>
        </p:spPr>
        <p:txBody>
          <a:bodyPr wrap="square" lIns="18288" rIns="18288" tIns="18288" bIns="18288">
            <a:spAutoFit/>
          </a:bodyPr>
          <a:lstStyle/>
          <a:p>
            <a:r>
              <a:rPr sz="800" b="0">
                <a:solidFill>
                  <a:srgbClr val="BECAD6"/>
                </a:solidFill>
                <a:latin typeface="Aptos"/>
              </a:rPr>
              <a:t>NutriScope · TP11 · État du marché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